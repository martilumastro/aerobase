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11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9" r:id="rId11"/>
    <p:sldId id="263" r:id="rId12"/>
    <p:sldId id="264" r:id="rId13"/>
    <p:sldId id="270" r:id="rId14"/>
    <p:sldId id="276" r:id="rId15"/>
    <p:sldId id="271" r:id="rId16"/>
    <p:sldId id="287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5" r:id="rId26"/>
    <p:sldId id="286" r:id="rId27"/>
    <p:sldId id="282" r:id="rId28"/>
    <p:sldId id="283" r:id="rId29"/>
    <p:sldId id="284" r:id="rId30"/>
    <p:sldId id="275" r:id="rId31"/>
  </p:sldIdLst>
  <p:sldSz cx="9144000" cy="5143500" type="screen16x9"/>
  <p:notesSz cx="5143500" cy="9144000"/>
  <p:embeddedFontLst>
    <p:embeddedFont>
      <p:font typeface="Alef" panose="00000500000000000000" pitchFamily="2" charset="-79"/>
      <p:regular r:id="rId33"/>
      <p:bold r:id="rId34"/>
    </p:embeddedFont>
    <p:embeddedFont>
      <p:font typeface="Century Schoolbook" panose="02040604050505020304" pitchFamily="18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Lora" pitchFamily="2" charset="0"/>
      <p:regular r:id="rId43"/>
      <p:bold r:id="rId44"/>
      <p:italic r:id="rId45"/>
      <p:boldItalic r:id="rId46"/>
    </p:embeddedFont>
    <p:embeddedFont>
      <p:font typeface="Source Sans 3" panose="020B0604020202020204" charset="0"/>
      <p:regular r:id="rId47"/>
    </p:embeddedFont>
    <p:embeddedFont>
      <p:font typeface="Wingdings 2" panose="05020102010507070707" pitchFamily="18" charset="2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26163B9B-F49D-43BB-A9FB-491847BA7A5E}">
          <p14:sldIdLst>
            <p14:sldId id="256"/>
            <p14:sldId id="257"/>
            <p14:sldId id="258"/>
            <p14:sldId id="259"/>
            <p14:sldId id="260"/>
            <p14:sldId id="267"/>
            <p14:sldId id="268"/>
            <p14:sldId id="261"/>
            <p14:sldId id="262"/>
            <p14:sldId id="269"/>
            <p14:sldId id="263"/>
          </p14:sldIdLst>
        </p14:section>
        <p14:section name="Sezione senza titolo" id="{6757D3CF-8EB1-4DE2-BD5B-290173B67941}">
          <p14:sldIdLst>
            <p14:sldId id="264"/>
            <p14:sldId id="270"/>
            <p14:sldId id="276"/>
            <p14:sldId id="271"/>
            <p14:sldId id="287"/>
            <p14:sldId id="272"/>
            <p14:sldId id="273"/>
            <p14:sldId id="274"/>
            <p14:sldId id="277"/>
            <p14:sldId id="278"/>
            <p14:sldId id="279"/>
            <p14:sldId id="280"/>
            <p14:sldId id="281"/>
            <p14:sldId id="285"/>
            <p14:sldId id="286"/>
            <p14:sldId id="282"/>
            <p14:sldId id="283"/>
            <p14:sldId id="28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AC7"/>
    <a:srgbClr val="D6E5EF"/>
    <a:srgbClr val="E3E3E3"/>
    <a:srgbClr val="B0BDC5"/>
    <a:srgbClr val="C76E9F"/>
    <a:srgbClr val="A7648F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8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24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F6A6-C40E-CE91-9C3A-E4960822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EFA01-F04C-E8E9-761D-B4A218969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7D3D7-1719-9ED4-F20C-D72D26B3A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4D1C2-73D2-3637-F9BA-D40C34008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64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66875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297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62792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856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8409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94860" y="1288409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500" b="0" kern="1200" spc="8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664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037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062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824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241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993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4251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2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rgbClr val="96969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rgbClr val="777777"/>
                </a:solidFill>
              </a:defRPr>
            </a:lvl1pPr>
          </a:lstStyle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7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129" r:id="rId10"/>
    <p:sldLayoutId id="2147484130" r:id="rId11"/>
    <p:sldLayoutId id="214748413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42.sv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svg"/><Relationship Id="rId4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18184BDA-DD64-6074-D2C3-CA5ABF74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85" y="3552195"/>
            <a:ext cx="3137703" cy="1504036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E45701E9-DB6B-4F6E-B386-DCBA7C08D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622" y="3622667"/>
            <a:ext cx="3150487" cy="1488380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B2041539-19E0-C959-2ABA-42DB91157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064" y="2906017"/>
            <a:ext cx="3137703" cy="149912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02ACF56D-48D6-7A2C-5757-AB88EC38F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22" y="-4454"/>
            <a:ext cx="5948578" cy="283265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5" name="Text 1"/>
          <p:cNvSpPr/>
          <p:nvPr/>
        </p:nvSpPr>
        <p:spPr>
          <a:xfrm>
            <a:off x="293899" y="394093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AeroBase</a:t>
            </a:r>
            <a:endParaRPr lang="en-US" sz="2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2"/>
          <p:cNvSpPr/>
          <p:nvPr/>
        </p:nvSpPr>
        <p:spPr>
          <a:xfrm>
            <a:off x="293899" y="1002203"/>
            <a:ext cx="3656485" cy="196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Sistema per la Gestione Aeroportuale</a:t>
            </a:r>
            <a:endParaRPr lang="en-US" sz="33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13068" y="3348591"/>
            <a:ext cx="1244054" cy="245938"/>
          </a:xfrm>
          <a:prstGeom prst="roundRect">
            <a:avLst>
              <a:gd name="adj" fmla="val 6388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9468" y="3387807"/>
            <a:ext cx="1449974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PROGETTO BASE DATI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13068" y="3729420"/>
            <a:ext cx="1110258" cy="255463"/>
          </a:xfrm>
          <a:prstGeom prst="roundRect">
            <a:avLst>
              <a:gd name="adj" fmla="val 6149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9468" y="3773399"/>
            <a:ext cx="1266230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DATABASE DESIGN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13068" y="4158991"/>
            <a:ext cx="957592" cy="255463"/>
          </a:xfrm>
          <a:prstGeom prst="roundRect">
            <a:avLst>
              <a:gd name="adj" fmla="val 6149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9468" y="4202970"/>
            <a:ext cx="1110258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MULTI-TENANT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3"/>
          <p:cNvSpPr/>
          <p:nvPr/>
        </p:nvSpPr>
        <p:spPr>
          <a:xfrm>
            <a:off x="293899" y="2878557"/>
            <a:ext cx="5125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Progetto di Basi di Dati — Django + MySQL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17837" y="532987"/>
            <a:ext cx="3213497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Contesto</a:t>
            </a:r>
            <a:endParaRPr lang="en-US" sz="3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2"/>
          <p:cNvSpPr/>
          <p:nvPr/>
        </p:nvSpPr>
        <p:spPr>
          <a:xfrm>
            <a:off x="317837" y="1342701"/>
            <a:ext cx="2547283" cy="865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AeroBase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è una piattaforma unificata per aeroporti, operatori e passeggeri.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99218" y="2519144"/>
            <a:ext cx="3844800" cy="769516"/>
          </a:xfrm>
          <a:prstGeom prst="roundRect">
            <a:avLst>
              <a:gd name="adj" fmla="val 215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4"/>
          <p:cNvSpPr/>
          <p:nvPr/>
        </p:nvSpPr>
        <p:spPr>
          <a:xfrm>
            <a:off x="309648" y="2639275"/>
            <a:ext cx="132248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🛫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Gestione Integrata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5"/>
          <p:cNvSpPr/>
          <p:nvPr/>
        </p:nvSpPr>
        <p:spPr>
          <a:xfrm>
            <a:off x="309648" y="2877534"/>
            <a:ext cx="35848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Coordinamento centralizzato di aeroporti, voli,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prenotazioni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personale operativo in un'unica piattaforma.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99218" y="3553295"/>
            <a:ext cx="3844800" cy="769516"/>
          </a:xfrm>
          <a:prstGeom prst="roundRect">
            <a:avLst>
              <a:gd name="adj" fmla="val 215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09648" y="3663726"/>
            <a:ext cx="12994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🌐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Portale </a:t>
            </a:r>
            <a:r>
              <a:rPr lang="en-US" sz="1100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Clienti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09648" y="3886745"/>
            <a:ext cx="35848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Interfaccia dedicata ai passeggeri per la ricerca voli, prenotazioni e gestione bagagli in autonomia.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472395" y="3092031"/>
            <a:ext cx="3844800" cy="769515"/>
          </a:xfrm>
          <a:prstGeom prst="roundRect">
            <a:avLst>
              <a:gd name="adj" fmla="val 273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82826" y="3187223"/>
            <a:ext cx="12994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🔧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Portale </a:t>
            </a:r>
            <a:r>
              <a:rPr lang="en-US" sz="1100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Operatori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472395" y="4187539"/>
            <a:ext cx="3844800" cy="739331"/>
          </a:xfrm>
          <a:prstGeom prst="roundRect">
            <a:avLst>
              <a:gd name="adj" fmla="val 215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82825" y="4271239"/>
            <a:ext cx="176822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🏢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Architettura Multi-Tenant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82825" y="4517118"/>
            <a:ext cx="35848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Più aeroporti condividono la stessa infrastruttura mantenendo i dati rigorosamente isolati e sicuri.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4A6AA4D-1FB9-71D5-D9A8-37D459B2BC32}"/>
              </a:ext>
            </a:extLst>
          </p:cNvPr>
          <p:cNvSpPr/>
          <p:nvPr/>
        </p:nvSpPr>
        <p:spPr>
          <a:xfrm>
            <a:off x="4602348" y="3430208"/>
            <a:ext cx="35848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Pannello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operativo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riservato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agli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operatori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aeroportuali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per il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controllo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delle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attività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quotidiane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AF9B28F3-BC8C-29FC-3300-F2D5B7EB6D26}"/>
              </a:ext>
            </a:extLst>
          </p:cNvPr>
          <p:cNvSpPr/>
          <p:nvPr/>
        </p:nvSpPr>
        <p:spPr>
          <a:xfrm>
            <a:off x="4472395" y="1873516"/>
            <a:ext cx="3844800" cy="942835"/>
          </a:xfrm>
          <a:prstGeom prst="roundRect">
            <a:avLst>
              <a:gd name="adj" fmla="val 215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BFEBABD3-FAE7-98E4-364B-4EEEA04EB49E}"/>
              </a:ext>
            </a:extLst>
          </p:cNvPr>
          <p:cNvSpPr/>
          <p:nvPr/>
        </p:nvSpPr>
        <p:spPr>
          <a:xfrm>
            <a:off x="4582825" y="1983948"/>
            <a:ext cx="12994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🌐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Area </a:t>
            </a:r>
            <a:r>
              <a:rPr lang="en-US" sz="1100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Pubblica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767ABA4D-7FE6-9045-F563-696276F40DE7}"/>
              </a:ext>
            </a:extLst>
          </p:cNvPr>
          <p:cNvSpPr/>
          <p:nvPr/>
        </p:nvSpPr>
        <p:spPr>
          <a:xfrm>
            <a:off x="4582825" y="2206967"/>
            <a:ext cx="35848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È possible, senza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effettuare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il login/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registrazione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ricercare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(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tramite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aeroporto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o data di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partenza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/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arrivo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) e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visualizzare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le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partenze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in tempo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reale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97669"/>
            <a:ext cx="3358976" cy="36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Obiettivi del Progetto</a:t>
            </a:r>
            <a:endParaRPr lang="en-US" sz="2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988740"/>
            <a:ext cx="7646423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progetto AeroBase segue un percorso metodologico completo, dall'analisi del dominio alla realizzazione di un'applicazione web funzionante, con particolare attenzione alla qualità e alla sicurezza dei dati.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3577" y="1498402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01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92622"/>
            <a:ext cx="3990901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1782514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Analisi del Dominio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3577" y="2031950"/>
            <a:ext cx="399090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Studio approfondito del contesto aeroportuale per identificare entità, relazioni e regole di business fondamentali.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29522" y="1498402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02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522" y="1692622"/>
            <a:ext cx="3990901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9522" y="1782514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Progettazione E-R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629523" y="2031950"/>
            <a:ext cx="3768890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Elaborazione del modello concettuale Entity-Relationship con tutte le entità e le associazioni del sistema.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3577" y="2619226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03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801169"/>
            <a:ext cx="3990901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577" y="2903339"/>
            <a:ext cx="1830884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Modello Logico Relazionale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23577" y="3152775"/>
            <a:ext cx="399090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Derivazione dello schema relazionale normalizzato a partire dal diagramma E-R.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629522" y="2619226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04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522" y="2801169"/>
            <a:ext cx="3990901" cy="14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29522" y="2903339"/>
            <a:ext cx="1691208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Implementazione MySQL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629523" y="3152775"/>
            <a:ext cx="3768890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Creazione del database con vincoli di integrità, trigger e ottimizzazioni per le prestazioni.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23577" y="3740051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05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3909789"/>
            <a:ext cx="3990901" cy="142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3577" y="4024164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Sviluppo Django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23577" y="4273600"/>
            <a:ext cx="399090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Realizzazione dell'applicazione web con architettura MVC, ORM e gestione degli utenti.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629522" y="3740051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7648F"/>
                </a:solidFill>
                <a:latin typeface="Alef" panose="00000500000000000000" pitchFamily="2" charset="-79"/>
                <a:ea typeface="Lora Light" pitchFamily="34" charset="-122"/>
                <a:cs typeface="Alef" panose="00000500000000000000" pitchFamily="2" charset="-79"/>
              </a:rPr>
              <a:t>06</a:t>
            </a:r>
            <a:endParaRPr lang="en-US" sz="950" dirty="0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522" y="3909789"/>
            <a:ext cx="3990901" cy="142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29522" y="4024164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Integrità e Sicurezza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629523" y="4273600"/>
            <a:ext cx="3768890" cy="8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it-IT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Verifica integrità, consistenza e sicurezza dei dati tramite i</a:t>
            </a:r>
          </a:p>
          <a:p>
            <a:pPr>
              <a:lnSpc>
                <a:spcPct val="129000"/>
              </a:lnSpc>
            </a:pPr>
            <a:r>
              <a:rPr lang="it-IT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vincoli del DBMS (chiavi, UNIQUE, CHECK, trigger) e controlli applicativi</a:t>
            </a: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degli </a:t>
            </a:r>
            <a:r>
              <a:rPr lang="en-US" sz="105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accessi</a:t>
            </a: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05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isolamento</a:t>
            </a: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multi-tenant del backend.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189" y="468660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Attori del Sistema</a:t>
            </a:r>
            <a:endParaRPr lang="en-US" sz="2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0189" y="1031268"/>
            <a:ext cx="7860768" cy="562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AeroBase distingue due categorie principali di utenti, ciascuna con permessi, interfacce e funzionalità dedicate. Il sistema garantisce che ogni attore operi esclusivamente nell'ambito delle proprie competenze.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9295" y="1976511"/>
            <a:ext cx="4077295" cy="2398541"/>
          </a:xfrm>
          <a:prstGeom prst="roundRect">
            <a:avLst>
              <a:gd name="adj" fmla="val 97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189" y="2132067"/>
            <a:ext cx="199727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🧑‍✈️ Passeggero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0189" y="2509471"/>
            <a:ext cx="381550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L'utente finale che interagisce con il portale pubblico per pianificare e gestire i propri viaggi.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0189" y="3046071"/>
            <a:ext cx="3815507" cy="1251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Ricerca voli e consultazione tabellone partenze/arrivi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Prenotazione con scelta del posto a sedere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Gestione bagagli: registrazione e tracking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Pagamento simulato con </a:t>
            </a:r>
            <a:r>
              <a:rPr lang="en-US" sz="1100" dirty="0" err="1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metodi</a:t>
            </a: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multipli</a:t>
            </a:r>
            <a:endParaRPr lang="en-US" sz="1100" dirty="0">
              <a:solidFill>
                <a:srgbClr val="000000"/>
              </a:solidFill>
              <a:latin typeface="Alef" panose="00000500000000000000" pitchFamily="2" charset="-79"/>
              <a:ea typeface="Source Sans 3" pitchFamily="34" charset="-122"/>
              <a:cs typeface="Alef" panose="00000500000000000000" pitchFamily="2" charset="-79"/>
            </a:endParaRP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 err="1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Consultazione</a:t>
            </a: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delle </a:t>
            </a:r>
            <a:r>
              <a:rPr lang="en-US" sz="1100" dirty="0" err="1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prenotazioni</a:t>
            </a:r>
            <a:endParaRPr lang="en-US" sz="1100" dirty="0">
              <a:solidFill>
                <a:srgbClr val="000000"/>
              </a:solidFill>
              <a:latin typeface="Alef" panose="00000500000000000000" pitchFamily="2" charset="-79"/>
              <a:ea typeface="Source Sans 3" pitchFamily="34" charset="-122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Alef" panose="00000500000000000000" pitchFamily="2" charset="-79"/>
              <a:ea typeface="Source Sans 3" pitchFamily="34" charset="-122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36455" y="2132067"/>
            <a:ext cx="233243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👷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Operatori Aeroportuali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36455" y="2509471"/>
            <a:ext cx="369712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personale autorizzato che gestisce le operazioni aeroportuali tramite l'area gestionale riservata.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36455" y="3046071"/>
            <a:ext cx="3888730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Gestione voli: creazione, modifica e monitoraggio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Check-in bagagli e assegnazione ai voli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Gestione del personale aeroportuale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Tracciabilità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delle </a:t>
            </a:r>
            <a:r>
              <a:rPr lang="en-US" sz="11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operazioni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7045"/>
            <a:ext cx="3393058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Requisiti Funzionali</a:t>
            </a:r>
            <a:endParaRPr lang="en-US" sz="23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845270"/>
            <a:ext cx="7902971" cy="55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 requisiti funzionali di AeroBase coprono l'intero ciclo di vita del viaggio del passeggero e le operazioni quotidiane degli operatori aeroportuali, garantendo un'esperienza completa e sicura.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90" y="1535460"/>
            <a:ext cx="4003253" cy="1117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5445" y="1674465"/>
            <a:ext cx="1624087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Ricerca Voli e Tabellone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5445" y="1929259"/>
            <a:ext cx="3668092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Ricerca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consultazione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con filtri per data, compagnia aerea 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destinazione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Tabellone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delle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partenze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aggiornato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automaticamente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169" y="1535460"/>
            <a:ext cx="4003253" cy="11176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3325" y="1674465"/>
            <a:ext cx="1900833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Prenotazione e Scelta Posto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13325" y="1929259"/>
            <a:ext cx="3668092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Flusso di prenotazione completo con selezione del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posto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verifica disponibilità e conferma immediata.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290" y="2772073"/>
            <a:ext cx="4003253" cy="9227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5445" y="2911078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Bagagli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05444" y="3165872"/>
            <a:ext cx="372939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Conferma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bagagli al check-in, assegnazione al volo, tracking dello stato e notifica al passeggero in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caso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variazioni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stato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7169" y="2772073"/>
            <a:ext cx="4003253" cy="9227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13325" y="2911078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Pagamento Simulato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813325" y="3165872"/>
            <a:ext cx="3807096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Integrazione con metodi di pagamento simulati (carta, PayPal,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ecc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.) con registrazione delle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transazioni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290" y="3813721"/>
            <a:ext cx="4003253" cy="9227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5445" y="3952726"/>
            <a:ext cx="1523851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Voli e Ritardi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05445" y="4207520"/>
            <a:ext cx="3668092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Pannello operatori per aggiornare lo stato dei voli,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comunicare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ritardi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modificare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gate.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7169" y="3813721"/>
            <a:ext cx="4003253" cy="92273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13325" y="3952726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Audit Log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813324" y="4207520"/>
            <a:ext cx="3807097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Registro di tutte le operazioni critiche eseguite dagli operatori, fondamentale per la tracciabilità e la conformità normativa.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magine 23">
            <a:extLst>
              <a:ext uri="{FF2B5EF4-FFF2-40B4-BE49-F238E27FC236}">
                <a16:creationId xmlns:a16="http://schemas.microsoft.com/office/drawing/2014/main" id="{B96D1952-3927-7104-6D01-E41A0801D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565" y="250079"/>
            <a:ext cx="4024136" cy="3863340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5" name="Text 1"/>
          <p:cNvSpPr/>
          <p:nvPr/>
        </p:nvSpPr>
        <p:spPr>
          <a:xfrm>
            <a:off x="344246" y="373232"/>
            <a:ext cx="443708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Architettura</a:t>
            </a:r>
            <a:r>
              <a:rPr lang="en-US" sz="275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del Sistema</a:t>
            </a:r>
            <a:endParaRPr lang="en-US" sz="2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2"/>
          <p:cNvSpPr/>
          <p:nvPr/>
        </p:nvSpPr>
        <p:spPr>
          <a:xfrm>
            <a:off x="344247" y="1037600"/>
            <a:ext cx="447178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Piattaforma</a:t>
            </a:r>
            <a:r>
              <a:rPr lang="en-US" sz="11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con stack tecnologico moderno: </a:t>
            </a:r>
            <a:r>
              <a:rPr lang="en-US" sz="115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Python</a:t>
            </a:r>
            <a:r>
              <a:rPr lang="en-US" sz="11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15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Django</a:t>
            </a:r>
            <a:r>
              <a:rPr lang="en-US" sz="11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15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MySQL</a:t>
            </a:r>
            <a:r>
              <a:rPr lang="en-US" sz="11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15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JavaScript asincrono</a:t>
            </a:r>
            <a:r>
              <a:rPr lang="en-US" sz="11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 Un'architettura a tre livelli che integra frontend, backend e database per la gestione completa delle operazioni aeroportuali.</a:t>
            </a:r>
            <a:endParaRPr lang="en-US" sz="11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3ADB46F-8FB2-CA5A-7B9F-EE2F8B246970}"/>
              </a:ext>
            </a:extLst>
          </p:cNvPr>
          <p:cNvSpPr/>
          <p:nvPr/>
        </p:nvSpPr>
        <p:spPr>
          <a:xfrm>
            <a:off x="284343" y="2173560"/>
            <a:ext cx="242226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Stack Tecnologico</a:t>
            </a:r>
            <a:endParaRPr lang="en-US" sz="2000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8E3FCB3-0E79-F2AD-4650-389F536AE434}"/>
              </a:ext>
            </a:extLst>
          </p:cNvPr>
          <p:cNvSpPr/>
          <p:nvPr/>
        </p:nvSpPr>
        <p:spPr>
          <a:xfrm>
            <a:off x="284342" y="2537937"/>
            <a:ext cx="2474895" cy="1285177"/>
          </a:xfrm>
          <a:prstGeom prst="roundRect">
            <a:avLst>
              <a:gd name="adj" fmla="val 168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31D7C0A-39D3-A11C-EB83-A55D077671CD}"/>
              </a:ext>
            </a:extLst>
          </p:cNvPr>
          <p:cNvSpPr/>
          <p:nvPr/>
        </p:nvSpPr>
        <p:spPr>
          <a:xfrm>
            <a:off x="400875" y="2654470"/>
            <a:ext cx="1816722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Frontend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3B60629-8885-64A5-7B2F-C16183865EE4}"/>
              </a:ext>
            </a:extLst>
          </p:cNvPr>
          <p:cNvSpPr/>
          <p:nvPr/>
        </p:nvSpPr>
        <p:spPr>
          <a:xfrm>
            <a:off x="400875" y="2929653"/>
            <a:ext cx="216621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HTML5, CSS3, JavaScript — interfaccia responsive per passeggeri e operatori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9A85ABF-64E8-9DFB-4D7E-23E89D363F03}"/>
              </a:ext>
            </a:extLst>
          </p:cNvPr>
          <p:cNvSpPr/>
          <p:nvPr/>
        </p:nvSpPr>
        <p:spPr>
          <a:xfrm>
            <a:off x="2882777" y="2537938"/>
            <a:ext cx="2474895" cy="1285176"/>
          </a:xfrm>
          <a:prstGeom prst="roundRect">
            <a:avLst>
              <a:gd name="adj" fmla="val 168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31FD992-FD9F-772C-17CC-B337470D34E9}"/>
              </a:ext>
            </a:extLst>
          </p:cNvPr>
          <p:cNvSpPr/>
          <p:nvPr/>
        </p:nvSpPr>
        <p:spPr>
          <a:xfrm>
            <a:off x="2999310" y="2654470"/>
            <a:ext cx="1816722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Backend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7656420-A2BF-5C41-58EF-5F1A881B5C96}"/>
              </a:ext>
            </a:extLst>
          </p:cNvPr>
          <p:cNvSpPr/>
          <p:nvPr/>
        </p:nvSpPr>
        <p:spPr>
          <a:xfrm>
            <a:off x="2999310" y="2929653"/>
            <a:ext cx="216621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Django — framework Python con ORM integrato, autenticazione e admin panel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B66916F-66E9-5458-24F9-0620E0570DBD}"/>
              </a:ext>
            </a:extLst>
          </p:cNvPr>
          <p:cNvSpPr/>
          <p:nvPr/>
        </p:nvSpPr>
        <p:spPr>
          <a:xfrm>
            <a:off x="284343" y="3911199"/>
            <a:ext cx="5087278" cy="744438"/>
          </a:xfrm>
          <a:prstGeom prst="roundRect">
            <a:avLst>
              <a:gd name="adj" fmla="val 203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F325E89-EC4F-12DD-21EF-CB1372ADE06C}"/>
              </a:ext>
            </a:extLst>
          </p:cNvPr>
          <p:cNvSpPr/>
          <p:nvPr/>
        </p:nvSpPr>
        <p:spPr>
          <a:xfrm>
            <a:off x="400875" y="4027731"/>
            <a:ext cx="1816722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Database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33C23AC-5B4C-1A2D-CA36-4032EC613A83}"/>
              </a:ext>
            </a:extLst>
          </p:cNvPr>
          <p:cNvSpPr/>
          <p:nvPr/>
        </p:nvSpPr>
        <p:spPr>
          <a:xfrm>
            <a:off x="400874" y="4302914"/>
            <a:ext cx="477859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MySQL — database relazionale con vincoli, trigger e ottimizzazioni per carichi elevati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3926"/>
            <a:ext cx="5205933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Analisi Concettuale del Dominio</a:t>
            </a:r>
            <a:endParaRPr lang="en-US" sz="25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975495"/>
            <a:ext cx="8554045" cy="32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dominio aeroportuale è stato suddiviso in </a:t>
            </a:r>
            <a:r>
              <a:rPr lang="en-US" sz="10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sette aree funzionali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garantire separazione delle responsabilità e manutenibilità del sistema.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3577" y="1443261"/>
            <a:ext cx="2282698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0" y="1578843"/>
            <a:ext cx="406747" cy="40674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004" y="1690688"/>
            <a:ext cx="182984" cy="1829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9160" y="210844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Utenti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018289" y="1443261"/>
            <a:ext cx="2511360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793" y="1578843"/>
            <a:ext cx="390318" cy="406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145793" y="2108448"/>
            <a:ext cx="153063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Aeroporti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5750140" y="1443261"/>
            <a:ext cx="2395057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724" y="1578843"/>
            <a:ext cx="372242" cy="40674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885723" y="2108448"/>
            <a:ext cx="145975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Voli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23577" y="2566318"/>
            <a:ext cx="2282698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60" y="2701900"/>
            <a:ext cx="406747" cy="406747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004" y="2813745"/>
            <a:ext cx="182984" cy="18298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59160" y="3231505"/>
            <a:ext cx="165296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Prenotazioni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010210" y="2566318"/>
            <a:ext cx="2511360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793" y="2701900"/>
            <a:ext cx="390318" cy="406747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145795" y="323150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Bagagli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5750140" y="2566318"/>
            <a:ext cx="2395057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5724" y="2701900"/>
            <a:ext cx="372242" cy="406747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5885723" y="3231505"/>
            <a:ext cx="145975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 Pagamenti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523578" y="3689375"/>
            <a:ext cx="7621620" cy="1000199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60" y="3824957"/>
            <a:ext cx="406747" cy="406747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004" y="3936802"/>
            <a:ext cx="182984" cy="182984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659160" y="4354562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Tabellone Pubblico</a:t>
            </a:r>
            <a:endParaRPr lang="en-US" sz="12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1660" y="213933"/>
            <a:ext cx="2334220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Diagramma E-R</a:t>
            </a:r>
            <a:endParaRPr lang="en-US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7625" y="549838"/>
            <a:ext cx="8095957" cy="377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modello concettuale Entity-Relationship rappresenta le principali entità del sistema e le loro relazioni. Il diagramma è stato progettato per catturare fedelmente la complessità del dominio aeroportuale, includendo specializzazioni, associazioni N:M e attributi composti.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7701" y="4497769"/>
            <a:ext cx="7399020" cy="431797"/>
          </a:xfrm>
          <a:prstGeom prst="roundRect">
            <a:avLst>
              <a:gd name="adj" fmla="val 2477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it-IT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2" y="4606742"/>
            <a:ext cx="124613" cy="90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325" y="4561394"/>
            <a:ext cx="6975332" cy="232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diagramma E-R completo esportato da draw.io dovrebbe essere inserito in questa sezione per la visualizzazione dettagliata di tutte le entità, attributi e relazioni con le relative cardinalità.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4D12A05-CCCB-42A0-95AB-DFBB9B581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289" y="990526"/>
            <a:ext cx="5038407" cy="335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592" y="220979"/>
            <a:ext cx="3855195" cy="336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Modello Logico Relazionale</a:t>
            </a:r>
            <a:endParaRPr lang="en-US" sz="2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58540" y="148035"/>
            <a:ext cx="4827506" cy="449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Lo schema relazionale derivato dal modello E-R è composto da 14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tabelle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9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normalizzate</a:t>
            </a:r>
            <a:r>
              <a:rPr lang="en-US" sz="9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 Ogni tabella include chiavi primarie, vincoli di integrità referenziale e attributi ottimizzati per le query frequenti.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6240" y="680750"/>
            <a:ext cx="8229807" cy="4411950"/>
          </a:xfrm>
          <a:prstGeom prst="roundRect">
            <a:avLst>
              <a:gd name="adj" fmla="val 455"/>
            </a:avLst>
          </a:prstGeom>
          <a:solidFill>
            <a:srgbClr val="303030"/>
          </a:solidFill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5949" y="751939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AEROPORTO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91424" y="751939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codice_iata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nome_aeroporto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citta, nazione,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codice_icao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5949" y="1015886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GATE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1424" y="1015886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codice_gate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codice_aeroporto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terminal, internazionale,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area_imbarco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5949" y="1279833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AEREO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91424" y="1279833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id_aereo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modello,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capacita_passeggeri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codice_vettore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5949" y="1543779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COMPAGNIA_AEREA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91424" y="1543779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codice_vettore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nome_compagnia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nazione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949" y="1807726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91424" y="1807726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numero_volo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orario_partenza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orario_arrivo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partenza FK,</a:t>
            </a:r>
          </a:p>
          <a:p>
            <a:pPr>
              <a:lnSpc>
                <a:spcPct val="120000"/>
              </a:lnSpc>
            </a:pP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destinazione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id_aereo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codice_gate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stato,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ritardo_minuti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prezzo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5949" y="2155493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VOLO_NAZIONALE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91424" y="2155493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PK/FK,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agevolazioni_statali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tipo_agevolazione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5949" y="2815679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PASSEGGERO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91424" y="2815679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username PK,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nome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cognome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email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numero_passaporto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</a:t>
            </a:r>
          </a:p>
          <a:p>
            <a:pPr>
              <a:lnSpc>
                <a:spcPct val="120000"/>
              </a:lnSpc>
            </a:pP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cellulare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nazionalita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codice_carta_identità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codice_fiscale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id_user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 UNIQUE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5949" y="3239646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OPERATORE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991424" y="3239646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codice_operatore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nome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cognome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email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cellulare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ruolo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codice_aeroporto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en-US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id_user</a:t>
            </a:r>
            <a:r>
              <a:rPr lang="en-US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 UNIQUE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5949" y="3503593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PRENOTAZIONE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91424" y="3503593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username_passeggero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PK/FK,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PK/FK,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id_prenotazione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data_acquisto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posto, classe,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stato_pagamento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5949" y="3767539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BAGAGLIO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91424" y="3767539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id_bagaglio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peso_kg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tipo,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username_passeggero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codice_operatore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stato,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data_aggiornamento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5949" y="4031486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TRANSAZIONE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91424" y="4031486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id_transazione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username_passeggero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importo,</a:t>
            </a:r>
          </a:p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id_transazione_esterno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UNIQUE,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metodo_usato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stato,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data_pagamento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5949" y="4440213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METODO_PAGAMENTO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91424" y="4440213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id_metodo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username_passeggero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intestatario,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ultime_cifre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it-IT" sz="800" i="1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mese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_scadenza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anno_scadenza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token_pagamento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data_registrazione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5949" y="4848939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GESTIONE_VOLO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91424" y="4848939"/>
            <a:ext cx="5659264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id_gestione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codice_operatore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timestamp_modifica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tipo_operazione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7C68BC3B-3DC1-CB63-AAFD-EAF4C0307800}"/>
              </a:ext>
            </a:extLst>
          </p:cNvPr>
          <p:cNvSpPr/>
          <p:nvPr/>
        </p:nvSpPr>
        <p:spPr>
          <a:xfrm>
            <a:off x="415949" y="2422193"/>
            <a:ext cx="2566169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VOLO_INTERNAZIONALE</a:t>
            </a:r>
            <a:endParaRPr lang="en-US" sz="9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4AAB4F4E-4982-D2A0-1287-CC81630C9824}"/>
              </a:ext>
            </a:extLst>
          </p:cNvPr>
          <p:cNvSpPr/>
          <p:nvPr/>
        </p:nvSpPr>
        <p:spPr>
          <a:xfrm>
            <a:off x="1991424" y="2422192"/>
            <a:ext cx="6055296" cy="157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PK/FK,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richiede_passaporto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tipo_visto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validita_minima_passaporto_mesi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fuso_orario_destinazione</a:t>
            </a:r>
            <a:r>
              <a:rPr lang="it-IT" sz="8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it-IT" sz="8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certificazioni_sanitarie_richieste</a:t>
            </a:r>
            <a:endParaRPr lang="en-US" sz="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49" y="302456"/>
            <a:ext cx="3391347" cy="40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Generalizzazione Utente</a:t>
            </a:r>
            <a:endParaRPr lang="en-US" sz="2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14" y="681717"/>
            <a:ext cx="3345051" cy="3345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26180" y="839003"/>
            <a:ext cx="189510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Scelta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Progettuale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2"/>
          <p:cNvSpPr/>
          <p:nvPr/>
        </p:nvSpPr>
        <p:spPr>
          <a:xfrm>
            <a:off x="3726180" y="1145724"/>
            <a:ext cx="4529593" cy="40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Autenticazione delegata al sistema nativo Django (</a:t>
            </a:r>
            <a:r>
              <a:rPr lang="it-IT" sz="1200" b="1" dirty="0" err="1">
                <a:latin typeface="Alef" panose="00000500000000000000" pitchFamily="2" charset="-79"/>
                <a:cs typeface="Alef" panose="00000500000000000000" pitchFamily="2" charset="-79"/>
              </a:rPr>
              <a:t>auth_user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).</a:t>
            </a:r>
          </a:p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Separazione tra dati di accesso e dati applicativi.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2306" y="4215035"/>
            <a:ext cx="2620694" cy="7309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18559" y="4329782"/>
            <a:ext cx="1047827" cy="19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76E9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Passeggero</a:t>
            </a:r>
            <a:endParaRPr lang="en-US" sz="1200" dirty="0">
              <a:solidFill>
                <a:srgbClr val="C76E9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4"/>
          <p:cNvSpPr/>
          <p:nvPr/>
        </p:nvSpPr>
        <p:spPr>
          <a:xfrm>
            <a:off x="3153196" y="4518049"/>
            <a:ext cx="2620754" cy="17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personali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documenti di viaggio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3919" y="4215035"/>
            <a:ext cx="2620754" cy="7309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60189" y="4329782"/>
            <a:ext cx="1047827" cy="19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76E9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Operatore</a:t>
            </a:r>
            <a:endParaRPr lang="en-US" sz="1200" dirty="0">
              <a:solidFill>
                <a:srgbClr val="C76E9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994810" y="4518049"/>
            <a:ext cx="2620821" cy="17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Dati lavorativi e aeroporto assegnato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86813B39-6EE7-7E53-F14E-C2781329DBC0}"/>
              </a:ext>
            </a:extLst>
          </p:cNvPr>
          <p:cNvSpPr/>
          <p:nvPr/>
        </p:nvSpPr>
        <p:spPr>
          <a:xfrm>
            <a:off x="3726180" y="1988219"/>
            <a:ext cx="189510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Implementazione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B712FE6-8DF9-0DAF-4ED0-EEC4D1E67715}"/>
              </a:ext>
            </a:extLst>
          </p:cNvPr>
          <p:cNvSpPr/>
          <p:nvPr/>
        </p:nvSpPr>
        <p:spPr>
          <a:xfrm>
            <a:off x="3726180" y="2294940"/>
            <a:ext cx="4529593" cy="40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Relazione </a:t>
            </a:r>
            <a:r>
              <a:rPr lang="it-IT" sz="1200" b="1" dirty="0">
                <a:latin typeface="Alef" panose="00000500000000000000" pitchFamily="2" charset="-79"/>
                <a:cs typeface="Alef" panose="00000500000000000000" pitchFamily="2" charset="-79"/>
              </a:rPr>
              <a:t>1:1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 tramite </a:t>
            </a:r>
            <a:r>
              <a:rPr lang="it-IT" sz="1200" dirty="0" err="1">
                <a:latin typeface="Alef" panose="00000500000000000000" pitchFamily="2" charset="-79"/>
                <a:cs typeface="Alef" panose="00000500000000000000" pitchFamily="2" charset="-79"/>
              </a:rPr>
              <a:t>id_user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 (</a:t>
            </a:r>
            <a:r>
              <a:rPr lang="it-IT" sz="1200" b="1" dirty="0">
                <a:latin typeface="Alef" panose="00000500000000000000" pitchFamily="2" charset="-79"/>
                <a:cs typeface="Alef" panose="00000500000000000000" pitchFamily="2" charset="-79"/>
              </a:rPr>
              <a:t>FK UNIQUE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).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5C80D768-256E-A342-5EBC-ACDB53BFF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86" y="4207415"/>
            <a:ext cx="2620694" cy="730903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7E081F98-4B52-E92A-19DD-2C44BC3D6C32}"/>
              </a:ext>
            </a:extLst>
          </p:cNvPr>
          <p:cNvSpPr/>
          <p:nvPr/>
        </p:nvSpPr>
        <p:spPr>
          <a:xfrm>
            <a:off x="691539" y="4322162"/>
            <a:ext cx="1047827" cy="19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C76E9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Auth_user</a:t>
            </a:r>
            <a:endParaRPr lang="en-US" sz="1200" dirty="0">
              <a:solidFill>
                <a:srgbClr val="C76E9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00A1022-ABF9-3A95-E3D9-67C97CD1B3B9}"/>
              </a:ext>
            </a:extLst>
          </p:cNvPr>
          <p:cNvSpPr/>
          <p:nvPr/>
        </p:nvSpPr>
        <p:spPr>
          <a:xfrm>
            <a:off x="326176" y="4510429"/>
            <a:ext cx="2620754" cy="17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Credenziali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sessioni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password hash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88053ABC-B601-24D1-B079-F0C6392E8C65}"/>
              </a:ext>
            </a:extLst>
          </p:cNvPr>
          <p:cNvSpPr/>
          <p:nvPr/>
        </p:nvSpPr>
        <p:spPr>
          <a:xfrm>
            <a:off x="3726180" y="2693587"/>
            <a:ext cx="189510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Vantaggi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B89B8F1-AC6A-C984-AC49-21AA5AF85F17}"/>
              </a:ext>
            </a:extLst>
          </p:cNvPr>
          <p:cNvSpPr/>
          <p:nvPr/>
        </p:nvSpPr>
        <p:spPr>
          <a:xfrm>
            <a:off x="3726180" y="3000307"/>
            <a:ext cx="4529593" cy="62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Maggiore sicurezza. </a:t>
            </a:r>
          </a:p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Riutilizzo del framework di autenticazione Django. </a:t>
            </a:r>
          </a:p>
          <a:p>
            <a:pPr marL="171450" indent="-171450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Separazione tra profili clienti e dipendenti.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6769" y="211637"/>
            <a:ext cx="3232356" cy="24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Specializzazione Volo</a:t>
            </a:r>
            <a:endParaRPr lang="en-US" sz="2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6858" y="603022"/>
            <a:ext cx="7889013" cy="272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Vengono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distinti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tra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nazionali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internazionali, con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attributi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propri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 Il modello adotta il pattern </a:t>
            </a: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Table-per-Subclass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per garantire flessibilità e integrità referenziale.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6858" y="1035724"/>
            <a:ext cx="3561457" cy="1036935"/>
          </a:xfrm>
          <a:prstGeom prst="roundRect">
            <a:avLst>
              <a:gd name="adj" fmla="val 13811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it-IT">
              <a:solidFill>
                <a:srgbClr val="A7648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129" y="1132156"/>
            <a:ext cx="1638672" cy="108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Gerarchia di Specializzazione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6776" y="1433987"/>
            <a:ext cx="2776686" cy="14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</a:t>
            </a:r>
            <a:r>
              <a:rPr lang="en-US" sz="11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(classe base)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129" y="1644352"/>
            <a:ext cx="2319486" cy="34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VOLO_NAZIONALE</a:t>
            </a:r>
            <a:endParaRPr lang="en-US" sz="1100" b="1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VOLO_INTERNAZIONALE</a:t>
            </a:r>
            <a:endParaRPr lang="en-US" sz="11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8624" y="4128190"/>
            <a:ext cx="3312937" cy="37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Specializzazione </a:t>
            </a:r>
            <a:r>
              <a:rPr lang="en-US" sz="1200" b="1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totale</a:t>
            </a:r>
            <a:r>
              <a:rPr lang="en-US" sz="12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200" b="1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disgiunta</a:t>
            </a:r>
            <a:r>
              <a:rPr lang="en-US" sz="12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: ogni volo appartiene esattamente a una sottoclasse.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55819" y="1044475"/>
            <a:ext cx="2258303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Pattern Table-per-Subclass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1342177"/>
            <a:ext cx="3896751" cy="28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Ogni sottoclasse ha una tabella dedicata con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chiave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primaria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(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id_volo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) che referencia la tabella padre. Questo approccio garantisce: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52177" y="1740434"/>
            <a:ext cx="3007514" cy="141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Integrità referenziale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automatica tramite foreign key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b="1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Estensibilità</a:t>
            </a:r>
            <a:r>
              <a:rPr lang="en-US" sz="10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: nuove sottoclassi senza modificare la struttura esistente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Query efficienti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sulla classe base o sulle sottoclassi specifiche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Attributi specifici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isolati nelle tabelle figlie (es. codice paese per voli internazionali)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9" y="2071483"/>
            <a:ext cx="5465266" cy="283770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305925" y="3380371"/>
            <a:ext cx="942535" cy="28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Specializzazione Volo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7630" y="2700180"/>
            <a:ext cx="1142452" cy="14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VOLO</a:t>
            </a:r>
            <a:endParaRPr lang="en-US" sz="8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7630" y="2886064"/>
            <a:ext cx="1181568" cy="18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Numero, partenza, arrivo, stato</a:t>
            </a:r>
            <a:endParaRPr lang="en-US" sz="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42515" y="3347614"/>
            <a:ext cx="1142452" cy="14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VOLO_NAZIONALE</a:t>
            </a:r>
            <a:endParaRPr lang="en-US" sz="8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142515" y="3533499"/>
            <a:ext cx="1181568" cy="18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 domestici, nessun attributo aggiuntivo</a:t>
            </a:r>
            <a:endParaRPr lang="en-US" sz="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025" y="3962677"/>
            <a:ext cx="1385667" cy="28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VOLO_INTERNAZIONALE</a:t>
            </a:r>
            <a:endParaRPr lang="en-US" sz="8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025" y="4188594"/>
            <a:ext cx="1218905" cy="94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 paese, requisiti visto</a:t>
            </a:r>
            <a:endParaRPr lang="en-US" sz="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1C97F39-CB1F-7AC6-AC8A-B59A67553A2C}"/>
              </a:ext>
            </a:extLst>
          </p:cNvPr>
          <p:cNvSpPr/>
          <p:nvPr/>
        </p:nvSpPr>
        <p:spPr>
          <a:xfrm>
            <a:off x="5264439" y="3826196"/>
            <a:ext cx="2258303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Garanzia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di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resistenza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C981598-F4B4-73E7-9025-E29F713F561B}"/>
              </a:ext>
            </a:extLst>
          </p:cNvPr>
          <p:cNvSpPr/>
          <p:nvPr/>
        </p:nvSpPr>
        <p:spPr>
          <a:xfrm>
            <a:off x="4668624" y="4543612"/>
            <a:ext cx="3896751" cy="28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Trigger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impongono la disgiunzione.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Transazioni atomiche (ACID)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garantiscono la totalità.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18242"/>
            <a:ext cx="3393058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Vincoli del Database</a:t>
            </a:r>
            <a:endParaRPr lang="en-US" sz="23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8" y="693465"/>
            <a:ext cx="7839666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L'integrità dei dati in AeroBase è garantita da un sistema multilivello di vincoli implementati direttamente nel database MySQL. Questi vincoli operano a livello strutturale, semantico e procedurale per assicurare coerenza e affidabilità.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194256"/>
            <a:ext cx="311869" cy="3118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1654731"/>
            <a:ext cx="182671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Primary Key &amp; Foreign Key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3577" y="1909524"/>
            <a:ext cx="259987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Ogni tabella ha una chiave primaria univoca. Le foreign key garantiscono l'integrità referenziale tra le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entità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alcuni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esempi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: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Aereo è legato a </a:t>
            </a:r>
            <a:r>
              <a:rPr lang="it-IT" sz="1000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Compagnia_Aerea</a:t>
            </a:r>
            <a:endParaRPr lang="it-IT" sz="1000" dirty="0">
              <a:solidFill>
                <a:srgbClr val="D6E5E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Volo sia ad Aereo che ad Aeroporto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Prenotazione, invece a Passeggero e Volo</a:t>
            </a:r>
            <a:endParaRPr lang="en-US" sz="1000" dirty="0">
              <a:solidFill>
                <a:srgbClr val="D6E5E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061" y="1194256"/>
            <a:ext cx="311869" cy="311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061" y="1654731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UNIQUE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5"/>
          <p:cNvSpPr/>
          <p:nvPr/>
        </p:nvSpPr>
        <p:spPr>
          <a:xfrm>
            <a:off x="3272061" y="1909524"/>
            <a:ext cx="259987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Prevengono duplicazioni su quegli attributi che devono essere unici, come:</a:t>
            </a:r>
          </a:p>
          <a:p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Email, Passaporto, Codice fiscale, Username, Numero volo, Codice ICAO, ID transazione esterno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0544" y="1194256"/>
            <a:ext cx="311869" cy="3118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0544" y="1654731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CHECK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020545" y="1909524"/>
            <a:ext cx="2391936" cy="132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Vincoli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su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attribute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che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possono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assumere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valori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appartenenti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ad un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certo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intervallo di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validità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ad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esempio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it-IT" sz="1000" dirty="0">
                <a:solidFill>
                  <a:srgbClr val="B0BDC5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Capacità aereo &gt; 0 </a:t>
            </a:r>
          </a:p>
          <a:p>
            <a:pPr>
              <a:lnSpc>
                <a:spcPct val="130000"/>
              </a:lnSpc>
            </a:pPr>
            <a:r>
              <a:rPr lang="it-IT" sz="1000" dirty="0">
                <a:solidFill>
                  <a:srgbClr val="B0BDC5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Arrivo &gt; Partenza </a:t>
            </a:r>
          </a:p>
          <a:p>
            <a:pPr>
              <a:lnSpc>
                <a:spcPct val="130000"/>
              </a:lnSpc>
            </a:pPr>
            <a:r>
              <a:rPr lang="it-IT" sz="1000" dirty="0">
                <a:solidFill>
                  <a:srgbClr val="B0BDC5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Ritardo ≥ 0 </a:t>
            </a:r>
          </a:p>
          <a:p>
            <a:pPr>
              <a:lnSpc>
                <a:spcPct val="130000"/>
              </a:lnSpc>
            </a:pPr>
            <a:r>
              <a:rPr lang="it-IT" sz="1000" dirty="0">
                <a:solidFill>
                  <a:srgbClr val="B0BDC5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Partenza ≠ Destinazione</a:t>
            </a:r>
            <a:endParaRPr lang="en-US" sz="1000" dirty="0">
              <a:solidFill>
                <a:srgbClr val="B0BDC5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557" y="3331071"/>
            <a:ext cx="311869" cy="3118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6557" y="3776930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ENUM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506557" y="4031724"/>
            <a:ext cx="259987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Utilizzato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per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limitare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valori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ammessi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a un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insieme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predefinito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validato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esempi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di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attributi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ENUM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sono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: </a:t>
            </a:r>
          </a:p>
          <a:p>
            <a:pPr>
              <a:lnSpc>
                <a:spcPct val="130000"/>
              </a:lnSpc>
            </a:pPr>
            <a:r>
              <a:rPr lang="it-IT" sz="1000" dirty="0">
                <a:solidFill>
                  <a:srgbClr val="B0BDC5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Ruolo operatore Stato volo Stato bagaglio Classe prenotazione Tipo volo</a:t>
            </a:r>
            <a:endParaRPr lang="en-US" sz="1000" dirty="0">
              <a:solidFill>
                <a:srgbClr val="B0BDC5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6561" y="3338691"/>
            <a:ext cx="311869" cy="31186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86561" y="3746450"/>
            <a:ext cx="14678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Trigger SQL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986561" y="4001244"/>
            <a:ext cx="259987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Trigger per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gestire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la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gerarchia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le due </a:t>
            </a:r>
            <a:r>
              <a:rPr lang="en-US" sz="10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specializzazioni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b="1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voli</a:t>
            </a: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b="1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nazionali</a:t>
            </a: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 </a:t>
            </a:r>
            <a:r>
              <a:rPr lang="en-US" sz="1000" b="1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internazionali</a:t>
            </a:r>
            <a:r>
              <a:rPr lang="en-US" sz="10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endParaRPr lang="en-US" sz="10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300"/>
            <a:ext cx="5707633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Trigger SQL per la Coerenza dei Dati</a:t>
            </a:r>
            <a:endParaRPr lang="en-US" sz="2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1036290"/>
            <a:ext cx="7902971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Per garantire la </a:t>
            </a:r>
            <a:r>
              <a:rPr lang="en-US" sz="1100" b="1" dirty="0">
                <a:solidFill>
                  <a:srgbClr val="F98AC7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disgiunzione tra voli nazionali e internazionali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sono stati implementati trigger SQL che intercettano le violazioni a livello di database.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31" y="1557710"/>
            <a:ext cx="7272263" cy="26325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9702" y="3554357"/>
            <a:ext cx="1714474" cy="21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Rollback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9702" y="2760881"/>
            <a:ext cx="1714474" cy="21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SQLSTATE '45000'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69702" y="1959309"/>
            <a:ext cx="1714474" cy="21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BEFORE INSERT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523577" y="4319067"/>
            <a:ext cx="7902971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 trigger vengono eseguiti </a:t>
            </a:r>
            <a:r>
              <a:rPr lang="en-US" sz="1100" b="1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prima dell'inserimento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e sollevano un'eccezione controllata tramite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Alef" panose="00000500000000000000" pitchFamily="2" charset="-79"/>
                <a:ea typeface="Consolas" pitchFamily="34" charset="-122"/>
                <a:cs typeface="Alef" panose="00000500000000000000" pitchFamily="2" charset="-79"/>
              </a:rPr>
              <a:t>SIGNAL SQLSTATE '45000'</a:t>
            </a:r>
            <a:r>
              <a:rPr lang="en-US" sz="11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impedendo l'inserimento di dati incoerenti a livello di specializzazione.</a:t>
            </a:r>
            <a:endParaRPr lang="en-US" sz="11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BEC7D10-5756-419C-B0DD-2C5C7F863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5320" cy="513269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308FC30-8073-BAF6-4D22-9BE32E63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48" b="8641"/>
          <a:stretch>
            <a:fillRect/>
          </a:stretch>
        </p:blipFill>
        <p:spPr>
          <a:xfrm>
            <a:off x="4475907" y="1905000"/>
            <a:ext cx="4668093" cy="179832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27F75FC7-659C-5B15-E3A5-E90FA26C8A94}"/>
              </a:ext>
            </a:extLst>
          </p:cNvPr>
          <p:cNvSpPr/>
          <p:nvPr/>
        </p:nvSpPr>
        <p:spPr>
          <a:xfrm>
            <a:off x="4771198" y="402335"/>
            <a:ext cx="3300540" cy="1189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it-IT" sz="1000" b="1" dirty="0" err="1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trg_vn_before_insert</a:t>
            </a:r>
            <a:endParaRPr lang="it-IT" sz="1000" b="1" dirty="0">
              <a:solidFill>
                <a:srgbClr val="E3E3E3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Consente solo voli con </a:t>
            </a:r>
            <a:r>
              <a:rPr lang="it-IT" sz="1000" dirty="0" err="1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tipo_volo</a:t>
            </a: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= nazionale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Impedisce la doppia appartenenza </a:t>
            </a:r>
          </a:p>
          <a:p>
            <a:pPr>
              <a:lnSpc>
                <a:spcPct val="150000"/>
              </a:lnSpc>
            </a:pPr>
            <a:r>
              <a:rPr lang="it-IT" sz="1000" b="1" dirty="0" err="1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trg_vi_before_insert</a:t>
            </a:r>
            <a:endParaRPr lang="it-IT" sz="1000" dirty="0">
              <a:solidFill>
                <a:srgbClr val="E3E3E3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Consente solo voli con </a:t>
            </a:r>
            <a:r>
              <a:rPr lang="it-IT" sz="1000" dirty="0" err="1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tipo_volo</a:t>
            </a: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= internazionale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Impedisce la doppia appartenenza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CD76743-90F3-ECA6-64F5-19C63F8651C9}"/>
              </a:ext>
            </a:extLst>
          </p:cNvPr>
          <p:cNvSpPr/>
          <p:nvPr/>
        </p:nvSpPr>
        <p:spPr>
          <a:xfrm>
            <a:off x="4628674" y="4203728"/>
            <a:ext cx="3750943" cy="928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it-IT" sz="105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L'applicazione inserisce i dati attraverso le transazioni, che assicurano l'atomicità delle operazioni: tutte le operazioni vengono completate correttamente oppure, in caso di errore, nessuna modifica viene salvata. </a:t>
            </a:r>
          </a:p>
          <a:p>
            <a:r>
              <a:rPr lang="it-IT" sz="1050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In questo modo viene mantenuto anche il </a:t>
            </a:r>
            <a:r>
              <a:rPr lang="it-IT" sz="1050" b="1" dirty="0">
                <a:solidFill>
                  <a:srgbClr val="E3E3E3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vincolo di totalità.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365150C-DF06-82EF-7544-11719467F385}"/>
              </a:ext>
            </a:extLst>
          </p:cNvPr>
          <p:cNvSpPr/>
          <p:nvPr/>
        </p:nvSpPr>
        <p:spPr>
          <a:xfrm>
            <a:off x="4572000" y="71807"/>
            <a:ext cx="3393058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Controllo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dei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vincoli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con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trigger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4B0DDA9-C1B6-45D6-B38E-19EB61181CF1}"/>
              </a:ext>
            </a:extLst>
          </p:cNvPr>
          <p:cNvSpPr/>
          <p:nvPr/>
        </p:nvSpPr>
        <p:spPr>
          <a:xfrm>
            <a:off x="4693316" y="3811876"/>
            <a:ext cx="3686301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transazione</a:t>
            </a: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degli </a:t>
            </a:r>
            <a:r>
              <a:rPr lang="en-US" sz="1600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inserimenti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39722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820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Politiche ON DELETE</a:t>
            </a:r>
            <a:endParaRPr lang="en-US" sz="2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1150500"/>
            <a:ext cx="7808383" cy="448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Le politiche di cancellazione sono state scelte in base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al ruolo semantico di ogni entità nel dominio aeroportuale.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23577" y="1801654"/>
            <a:ext cx="7808383" cy="3120866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5188" y="1801654"/>
            <a:ext cx="2602771" cy="3120865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761" y="2031489"/>
            <a:ext cx="16974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CASCADE</a:t>
            </a:r>
            <a:endParaRPr lang="en-US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761" y="2361977"/>
            <a:ext cx="2314283" cy="2469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Eliminazione automatica dei record dipendenti. Ideale per relazioni di </a:t>
            </a:r>
            <a:r>
              <a:rPr lang="en-US" sz="14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composizione</a:t>
            </a: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forte.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Esempi: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200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Compagnia_Aerea</a:t>
            </a: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→ Aereo 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Volo → Specializzazioni 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Passeggero → Prenotazioni 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Prenotazione → Bagagli, Transazioni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600" dirty="0">
              <a:solidFill>
                <a:srgbClr val="D6E5E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34112" y="2361977"/>
            <a:ext cx="2602771" cy="1566416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21571" y="2544857"/>
            <a:ext cx="19050" cy="1566416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32922" y="2031489"/>
            <a:ext cx="16974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SET NULL</a:t>
            </a:r>
            <a:endParaRPr lang="en-US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32922" y="2361977"/>
            <a:ext cx="2314283" cy="2469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Conservazione dello storico operativo. I record rimangono tracciabili anche dopo la rimozione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dell'entità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correlate,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preservando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lo storico.</a:t>
            </a:r>
          </a:p>
          <a:p>
            <a:pPr>
              <a:lnSpc>
                <a:spcPct val="150000"/>
              </a:lnSpc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Esempi: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Operatore → Bagaglio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Gate → Volo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36784" y="2361977"/>
            <a:ext cx="2699024" cy="1566416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62698" y="2544857"/>
            <a:ext cx="19050" cy="1566416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65491" y="2031489"/>
            <a:ext cx="16974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RESTRICT</a:t>
            </a:r>
            <a:endParaRPr lang="en-US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65491" y="2355260"/>
            <a:ext cx="2314283" cy="259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Protezione delle entità strutturali. Impedisce la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cancellazione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,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bloccando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eliminazioni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non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sicure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Esempi: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Aeroporto con Gate associati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Aeroporto con Operatori assegnati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Aeroporto utilizzato da un Volo</a:t>
            </a:r>
            <a:endParaRPr lang="en-US" sz="1100" dirty="0">
              <a:solidFill>
                <a:srgbClr val="D6E5EF"/>
              </a:solidFill>
              <a:latin typeface="Alef" panose="00000500000000000000" pitchFamily="2" charset="-79"/>
              <a:ea typeface="Source Sans 3" pitchFamily="34" charset="-122"/>
              <a:cs typeface="Alef" panose="00000500000000000000" pitchFamily="2" charset="-79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666B-83A0-D788-E2C2-82C74B0E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0FB31E-2B7C-6928-0359-6488C0C89211}"/>
              </a:ext>
            </a:extLst>
          </p:cNvPr>
          <p:cNvSpPr/>
          <p:nvPr/>
        </p:nvSpPr>
        <p:spPr>
          <a:xfrm>
            <a:off x="523577" y="31008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it-IT" sz="2800" dirty="0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Vincoli Applicativi e Logica di Business</a:t>
            </a:r>
            <a:endParaRPr lang="en-US" sz="2750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CCACCD-1F4A-733F-8682-4D58228F97C9}"/>
              </a:ext>
            </a:extLst>
          </p:cNvPr>
          <p:cNvSpPr/>
          <p:nvPr/>
        </p:nvSpPr>
        <p:spPr>
          <a:xfrm>
            <a:off x="523577" y="845700"/>
            <a:ext cx="7808383" cy="73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Non tutti i vincoli possono essere espressi tramite </a:t>
            </a:r>
            <a:r>
              <a:rPr lang="it-IT" sz="12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FK, CHECK o Trigger</a:t>
            </a: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. </a:t>
            </a:r>
          </a:p>
          <a:p>
            <a:pPr>
              <a:lnSpc>
                <a:spcPct val="133000"/>
              </a:lnSpc>
            </a:pP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Le regole dinamiche e dipendenti dal contesto vengono gestite dal </a:t>
            </a:r>
            <a:r>
              <a:rPr lang="it-IT" sz="1200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backend</a:t>
            </a:r>
            <a:r>
              <a:rPr lang="it-IT" sz="12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Django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1200" dirty="0">
              <a:solidFill>
                <a:srgbClr val="D6E5E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C99107B4-DFBD-A03E-BF2E-A39E55C5300F}"/>
              </a:ext>
            </a:extLst>
          </p:cNvPr>
          <p:cNvSpPr/>
          <p:nvPr/>
        </p:nvSpPr>
        <p:spPr>
          <a:xfrm>
            <a:off x="450262" y="1463040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it-IT" dirty="0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Principali controlli Applicativi</a:t>
            </a:r>
            <a:endParaRPr lang="en-US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2B3960A-1E69-DCB9-F435-A5193B2C5840}"/>
              </a:ext>
            </a:extLst>
          </p:cNvPr>
          <p:cNvSpPr/>
          <p:nvPr/>
        </p:nvSpPr>
        <p:spPr>
          <a:xfrm>
            <a:off x="450262" y="1964010"/>
            <a:ext cx="2818718" cy="1393493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0777E20-6A8C-B0AF-9B6A-27E024458EB2}"/>
              </a:ext>
            </a:extLst>
          </p:cNvPr>
          <p:cNvSpPr/>
          <p:nvPr/>
        </p:nvSpPr>
        <p:spPr>
          <a:xfrm>
            <a:off x="749023" y="2057697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Gestione</a:t>
            </a: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Posti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D5FE917-499E-3190-204D-6BB90F7C59B5}"/>
              </a:ext>
            </a:extLst>
          </p:cNvPr>
          <p:cNvSpPr/>
          <p:nvPr/>
        </p:nvSpPr>
        <p:spPr>
          <a:xfrm>
            <a:off x="3459480" y="1964010"/>
            <a:ext cx="2716292" cy="1393493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E449E418-2E63-9F67-0915-36FB321450D4}"/>
              </a:ext>
            </a:extLst>
          </p:cNvPr>
          <p:cNvSpPr/>
          <p:nvPr/>
        </p:nvSpPr>
        <p:spPr>
          <a:xfrm>
            <a:off x="3791916" y="2057697"/>
            <a:ext cx="153063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Workflow </a:t>
            </a:r>
            <a:r>
              <a:rPr lang="en-US" sz="1400" b="1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Bagagli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BD3C08A3-8D3A-2992-0019-8015B491936A}"/>
              </a:ext>
            </a:extLst>
          </p:cNvPr>
          <p:cNvSpPr/>
          <p:nvPr/>
        </p:nvSpPr>
        <p:spPr>
          <a:xfrm>
            <a:off x="450262" y="3452827"/>
            <a:ext cx="2818718" cy="1393493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63F7988-D623-BA6F-6E9F-8E3C08E8FEC8}"/>
              </a:ext>
            </a:extLst>
          </p:cNvPr>
          <p:cNvSpPr/>
          <p:nvPr/>
        </p:nvSpPr>
        <p:spPr>
          <a:xfrm>
            <a:off x="749023" y="3546514"/>
            <a:ext cx="165296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Flusso</a:t>
            </a: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</a:t>
            </a:r>
            <a:r>
              <a:rPr lang="en-US" sz="1400" b="1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Pagamenti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38D6C3C-244E-7967-94E7-F41FE4AD97C4}"/>
              </a:ext>
            </a:extLst>
          </p:cNvPr>
          <p:cNvSpPr/>
          <p:nvPr/>
        </p:nvSpPr>
        <p:spPr>
          <a:xfrm>
            <a:off x="3451401" y="3452827"/>
            <a:ext cx="2716292" cy="1393493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D13EA6AF-ECF3-718E-4DB5-586BA084C50E}"/>
              </a:ext>
            </a:extLst>
          </p:cNvPr>
          <p:cNvSpPr/>
          <p:nvPr/>
        </p:nvSpPr>
        <p:spPr>
          <a:xfrm>
            <a:off x="3791918" y="354651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Validazione</a:t>
            </a:r>
            <a:r>
              <a:rPr lang="en-US" sz="1400" b="1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Gate</a:t>
            </a:r>
            <a:endParaRPr lang="en-US" sz="14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F9C098D-FA7A-D2CB-013C-E8F0039A812C}"/>
              </a:ext>
            </a:extLst>
          </p:cNvPr>
          <p:cNvSpPr/>
          <p:nvPr/>
        </p:nvSpPr>
        <p:spPr>
          <a:xfrm>
            <a:off x="627102" y="2312492"/>
            <a:ext cx="1693079" cy="70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Verifica disponibilità del posto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Nessuna doppia assegnazione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Compatibilità con la classe selezionata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2E1849C-FC6F-1BBE-F2CA-689B5E5265C5}"/>
              </a:ext>
            </a:extLst>
          </p:cNvPr>
          <p:cNvSpPr txBox="1"/>
          <p:nvPr/>
        </p:nvSpPr>
        <p:spPr>
          <a:xfrm>
            <a:off x="491520" y="3745944"/>
            <a:ext cx="2818718" cy="10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Creazione della transazione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Aggiornamento dello stato della prenotazione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Operazioni eseguite in modo consistente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3FDCD66-C832-3D05-672C-31BDF4A81F3B}"/>
              </a:ext>
            </a:extLst>
          </p:cNvPr>
          <p:cNvSpPr txBox="1"/>
          <p:nvPr/>
        </p:nvSpPr>
        <p:spPr>
          <a:xfrm>
            <a:off x="3606428" y="2277414"/>
            <a:ext cx="2665678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Gestione degli stati del bagaglio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Registrazione operatore responsabile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Tracciamento delle modifiche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4650306-38DD-C0C8-FA29-255D4389BDC3}"/>
              </a:ext>
            </a:extLst>
          </p:cNvPr>
          <p:cNvSpPr txBox="1"/>
          <p:nvPr/>
        </p:nvSpPr>
        <p:spPr>
          <a:xfrm>
            <a:off x="3534413" y="3752119"/>
            <a:ext cx="2665678" cy="10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Compatibilità tra gate e tipologia di volo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50" dirty="0">
                <a:latin typeface="Alef" panose="00000500000000000000" pitchFamily="2" charset="-79"/>
                <a:cs typeface="Alef" panose="00000500000000000000" pitchFamily="2" charset="-79"/>
              </a:rPr>
              <a:t>Prevenzione di assegnazioni non ammissibili</a:t>
            </a:r>
            <a:endParaRPr lang="en-US" sz="10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2B60F364-A369-5176-F56A-32268F8C853E}"/>
              </a:ext>
            </a:extLst>
          </p:cNvPr>
          <p:cNvSpPr/>
          <p:nvPr/>
        </p:nvSpPr>
        <p:spPr>
          <a:xfrm>
            <a:off x="6366272" y="1587304"/>
            <a:ext cx="2028705" cy="3037426"/>
          </a:xfrm>
          <a:prstGeom prst="roundRect">
            <a:avLst>
              <a:gd name="adj" fmla="val 203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2B39737D-A176-4D49-0120-38368F7CB684}"/>
              </a:ext>
            </a:extLst>
          </p:cNvPr>
          <p:cNvSpPr/>
          <p:nvPr/>
        </p:nvSpPr>
        <p:spPr>
          <a:xfrm>
            <a:off x="6498318" y="1769706"/>
            <a:ext cx="1708422" cy="48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Architettura</a:t>
            </a:r>
            <a:r>
              <a:rPr lang="en-US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Django</a:t>
            </a:r>
            <a:endParaRPr lang="en-US" b="1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3BB2EB-03D4-2541-63A5-94B5F9DB1080}"/>
              </a:ext>
            </a:extLst>
          </p:cNvPr>
          <p:cNvSpPr txBox="1"/>
          <p:nvPr/>
        </p:nvSpPr>
        <p:spPr>
          <a:xfrm>
            <a:off x="6498318" y="2418367"/>
            <a:ext cx="1764613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200" b="1" dirty="0">
                <a:latin typeface="Alef" panose="00000500000000000000" pitchFamily="2" charset="-79"/>
                <a:cs typeface="Alef" panose="00000500000000000000" pitchFamily="2" charset="-79"/>
              </a:rPr>
              <a:t>Model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 → accesso ai dati MySQL</a:t>
            </a:r>
          </a:p>
          <a:p>
            <a:pPr>
              <a:lnSpc>
                <a:spcPct val="150000"/>
              </a:lnSpc>
            </a:pPr>
            <a:r>
              <a:rPr lang="it-IT" sz="1200" b="1" dirty="0">
                <a:latin typeface="Alef" panose="00000500000000000000" pitchFamily="2" charset="-79"/>
                <a:cs typeface="Alef" panose="00000500000000000000" pitchFamily="2" charset="-79"/>
              </a:rPr>
              <a:t>View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 → logica di business e controlli di sicurezza</a:t>
            </a:r>
          </a:p>
          <a:p>
            <a:pPr>
              <a:lnSpc>
                <a:spcPct val="150000"/>
              </a:lnSpc>
            </a:pPr>
            <a:r>
              <a:rPr lang="it-IT" sz="1200" b="1" dirty="0">
                <a:latin typeface="Alef" panose="00000500000000000000" pitchFamily="2" charset="-79"/>
                <a:cs typeface="Alef" panose="00000500000000000000" pitchFamily="2" charset="-79"/>
              </a:rPr>
              <a:t>Template</a:t>
            </a:r>
            <a:r>
              <a:rPr lang="it-IT" sz="1200" dirty="0">
                <a:latin typeface="Alef" panose="00000500000000000000" pitchFamily="2" charset="-79"/>
                <a:cs typeface="Alef" panose="00000500000000000000" pitchFamily="2" charset="-79"/>
              </a:rPr>
              <a:t> → interfaccia utente</a:t>
            </a:r>
          </a:p>
        </p:txBody>
      </p:sp>
    </p:spTree>
    <p:extLst>
      <p:ext uri="{BB962C8B-B14F-4D97-AF65-F5344CB8AC3E}">
        <p14:creationId xmlns:p14="http://schemas.microsoft.com/office/powerpoint/2010/main" val="409654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>
            <a:extLst>
              <a:ext uri="{FF2B5EF4-FFF2-40B4-BE49-F238E27FC236}">
                <a16:creationId xmlns:a16="http://schemas.microsoft.com/office/drawing/2014/main" id="{8C13066F-29A7-C999-4228-1D1D5ED93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087" y="0"/>
            <a:ext cx="5444933" cy="261137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5" name="Shape 2"/>
          <p:cNvSpPr/>
          <p:nvPr/>
        </p:nvSpPr>
        <p:spPr>
          <a:xfrm>
            <a:off x="190501" y="467937"/>
            <a:ext cx="1806103" cy="331829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  <p:txBody>
          <a:bodyPr/>
          <a:lstStyle/>
          <a:p>
            <a:pPr algn="r"/>
            <a:endParaRPr lang="it-IT" sz="200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1" y="528991"/>
            <a:ext cx="1806104" cy="2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ISOLAMENTO &amp; SICUREZZA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55544" y="467937"/>
            <a:ext cx="4387000" cy="706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Multi-Tenant e RBAC</a:t>
            </a:r>
            <a:endParaRPr lang="en-US" sz="3200" b="1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6441" y="993383"/>
            <a:ext cx="4387000" cy="233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Ogni operatore interagisce esclusivamente con i dati del proprio aeroporto. L'isolamento logico è garantito tramite filtraggio sul </a:t>
            </a:r>
            <a:r>
              <a:rPr lang="en-US" sz="1600" b="1" dirty="0">
                <a:solidFill>
                  <a:srgbClr val="F98AC7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codice IATA</a:t>
            </a:r>
            <a:r>
              <a:rPr lang="en-US" sz="16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>
              <a:lnSpc>
                <a:spcPct val="133000"/>
              </a:lnSpc>
            </a:pPr>
            <a:r>
              <a:rPr lang="en-US" sz="1600" b="1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Operatore</a:t>
            </a:r>
            <a:r>
              <a:rPr lang="en-US" sz="16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→ </a:t>
            </a:r>
            <a:r>
              <a:rPr lang="en-US" sz="1600" b="1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codice_aeroporto</a:t>
            </a:r>
            <a:r>
              <a:rPr lang="en-US" sz="16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 (FK)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410" y="2723781"/>
            <a:ext cx="224358" cy="224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278" y="272597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Isolamento logico</a:t>
            </a:r>
            <a:endParaRPr lang="en-US" sz="1400" b="1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83090" y="2977828"/>
            <a:ext cx="2505830" cy="1972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 dati di ogni aeroporto sono separati a </a:t>
            </a:r>
            <a:r>
              <a:rPr lang="en-US" sz="12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livello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2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applicativo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Ogni operatore è associato a un aeroporto tramite </a:t>
            </a:r>
            <a:r>
              <a:rPr lang="it-IT" sz="1000" b="1" dirty="0" err="1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codice_aeroporto</a:t>
            </a:r>
            <a:r>
              <a:rPr lang="it-IT" sz="10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I dati sono segregati </a:t>
            </a:r>
            <a:r>
              <a:rPr lang="it-IT" sz="10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per scalo.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Gli utenti possono </a:t>
            </a:r>
            <a:r>
              <a:rPr lang="it-IT" sz="1000" b="1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operare esclusivamente </a:t>
            </a:r>
            <a:r>
              <a:rPr lang="it-IT" sz="1000" dirty="0">
                <a:solidFill>
                  <a:srgbClr val="D6E5EF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sul proprio contesto aeroportuale.</a:t>
            </a:r>
            <a:endParaRPr lang="en-US" sz="1000" dirty="0">
              <a:solidFill>
                <a:srgbClr val="D6E5EF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4584" y="2723781"/>
            <a:ext cx="224358" cy="2243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93521" y="2725976"/>
            <a:ext cx="18988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Controllo accessi RBAC</a:t>
            </a:r>
            <a:endParaRPr lang="en-US" sz="1400" b="1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131821" y="2977828"/>
            <a:ext cx="2349834" cy="200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Ruoli distinti per operatore voli e </a:t>
            </a:r>
            <a:r>
              <a:rPr lang="en-US" sz="12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operatore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2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bagagli</a:t>
            </a: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Passeggero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prenotazioni, pagamenti e bagagli personali.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Operatore Voli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gestione dei voli.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Operatore Bagagli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tracciamento e aggiornamento bagagli.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b="1" dirty="0">
                <a:latin typeface="Alef" panose="00000500000000000000" pitchFamily="2" charset="-79"/>
                <a:cs typeface="Alef" panose="00000500000000000000" pitchFamily="2" charset="-79"/>
              </a:rPr>
              <a:t>Admin</a:t>
            </a:r>
            <a:r>
              <a:rPr lang="it-IT" sz="1000" dirty="0">
                <a:latin typeface="Alef" panose="00000500000000000000" pitchFamily="2" charset="-79"/>
                <a:cs typeface="Alef" panose="00000500000000000000" pitchFamily="2" charset="-79"/>
              </a:rPr>
              <a:t> → gestione utenti e operazioni dello scalo.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7306" y="2723781"/>
            <a:ext cx="224358" cy="2243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46244" y="272597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Filtro IATA</a:t>
            </a:r>
            <a:endParaRPr lang="en-US" sz="1400" b="1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882112" y="2977828"/>
            <a:ext cx="2416068" cy="2165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Query filtrate automaticamente sul codice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aeroporto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</a:t>
            </a:r>
            <a:r>
              <a:rPr lang="en-US" sz="1300" dirty="0" err="1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assegnato</a:t>
            </a:r>
            <a:r>
              <a:rPr lang="en-US" sz="13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latin typeface="Alef" panose="00000500000000000000" pitchFamily="2" charset="-79"/>
                <a:cs typeface="Alef" panose="00000500000000000000" pitchFamily="2" charset="-79"/>
              </a:rPr>
              <a:t>Applicazione automatica di filtri basati sul codice IATA dell'operatore.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latin typeface="Alef" panose="00000500000000000000" pitchFamily="2" charset="-79"/>
                <a:cs typeface="Alef" panose="00000500000000000000" pitchFamily="2" charset="-79"/>
              </a:rPr>
              <a:t>Esempio: </a:t>
            </a:r>
            <a:r>
              <a:rPr lang="it-IT" sz="1100" dirty="0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.filter(partenza=</a:t>
            </a:r>
            <a:r>
              <a:rPr lang="it-IT" sz="1100" dirty="0" err="1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operatore.codice_aeroporto</a:t>
            </a:r>
            <a:r>
              <a:rPr lang="it-IT" sz="1100" dirty="0">
                <a:solidFill>
                  <a:srgbClr val="F98AC7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100" dirty="0">
                <a:latin typeface="Alef" panose="00000500000000000000" pitchFamily="2" charset="-79"/>
                <a:cs typeface="Alef" panose="00000500000000000000" pitchFamily="2" charset="-79"/>
              </a:rPr>
              <a:t>Un operatore FCO visualizza e modifica solo i dati relativi a FCO.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489C03-9705-BE0C-5388-83344F3CB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898" y="131236"/>
            <a:ext cx="2963343" cy="1410177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795792D-956A-00C5-AD70-CFC8C4518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162" y="416922"/>
            <a:ext cx="2962574" cy="1414740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484CB3-7AAB-BA28-E483-C31B74F81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181" y="1655692"/>
            <a:ext cx="2945999" cy="1387218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B817DA70-585E-3506-1847-11B717B99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630" y="2074287"/>
            <a:ext cx="2952106" cy="1380269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EF42061-859B-62C4-AFB7-E0550C3F4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729" y="3107114"/>
            <a:ext cx="2952107" cy="1390094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F1805025-6D5B-831C-3E9A-DE5F90A3E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164" y="3580775"/>
            <a:ext cx="2962572" cy="1390092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620427" y="163542"/>
            <a:ext cx="2502322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Workflow Passeggero</a:t>
            </a:r>
            <a:endParaRPr lang="en-US" sz="2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6947" y="577078"/>
            <a:ext cx="4043998" cy="518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flusso di prenotazione guida l'utente attraverso un processo strutturato,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con verifiche automatiche di documenti e requisiti del </a:t>
            </a:r>
            <a:r>
              <a:rPr lang="en-US" sz="1000" dirty="0" err="1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volo</a:t>
            </a:r>
            <a:r>
              <a:rPr lang="en-US" sz="1000" dirty="0"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.</a:t>
            </a:r>
            <a:endParaRPr lang="en-US" sz="10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4804" y="972517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2928" y="1150888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1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16865" y="1705157"/>
            <a:ext cx="10175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Ricerca Volo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4804" y="1541413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2928" y="1719783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2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16865" y="1155639"/>
            <a:ext cx="102520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Login o Registrazione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54804" y="2110308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62928" y="2288679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3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16865" y="2267118"/>
            <a:ext cx="10175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Selezione Posto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54804" y="2679204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2928" y="2857574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4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16865" y="2836013"/>
            <a:ext cx="1019547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Dichiarazione Bagagli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54804" y="3248099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2928" y="3426470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5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16865" y="3404909"/>
            <a:ext cx="10175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Pagamento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54804" y="3816995"/>
            <a:ext cx="345951" cy="518964"/>
          </a:xfrm>
          <a:prstGeom prst="roundRect">
            <a:avLst>
              <a:gd name="adj" fmla="val 36003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2928" y="3995365"/>
            <a:ext cx="129704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6</a:t>
            </a:r>
            <a:endParaRPr lang="en-US" sz="1200" b="1" dirty="0">
              <a:solidFill>
                <a:schemeClr val="bg1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16865" y="3973804"/>
            <a:ext cx="112581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Conferma Prenotazione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3897" y="4544540"/>
            <a:ext cx="5167803" cy="467723"/>
          </a:xfrm>
          <a:prstGeom prst="roundRect">
            <a:avLst>
              <a:gd name="adj" fmla="val 2800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967" y="4640165"/>
            <a:ext cx="194786" cy="1376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92632" y="4637407"/>
            <a:ext cx="4840811" cy="41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sistema verifica automaticamente documenti e requisiti del volo in fase di checkout,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 err="1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bloccando</a:t>
            </a:r>
            <a:r>
              <a:rPr lang="en-US" sz="85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 la prenotazione in caso di incongruenze.</a:t>
            </a:r>
            <a:endParaRPr lang="en-US" sz="8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7524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Workflow Operatore</a:t>
            </a:r>
            <a:endParaRPr lang="en-US" sz="27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5900" y="1533674"/>
            <a:ext cx="4081314" cy="2740521"/>
          </a:xfrm>
          <a:prstGeom prst="roundRect">
            <a:avLst>
              <a:gd name="adj" fmla="val 6722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5472" y="1683246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Operatore Voli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5472" y="2137194"/>
            <a:ext cx="378216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Login con credenziali RBAC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Dashboard aeroporto assegnato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Modifica stato volo (in orario, ritardo, cancellato)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000000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Audit log automatico delle modifiche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9226" y="1683246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Operatore Bagagli</a:t>
            </a:r>
            <a:endParaRPr lang="en-US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9226" y="2137194"/>
            <a:ext cx="3547747" cy="10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Ricerca prenotazione per codice PNR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Verifica peso e conformità bagagli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Aggiornamento stato bagaglio (accettato, in transito, consegnato)</a:t>
            </a:r>
            <a:endParaRPr lang="en-US" sz="12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9226" y="3433359"/>
            <a:ext cx="3547747" cy="840835"/>
          </a:xfrm>
          <a:prstGeom prst="roundRect">
            <a:avLst>
              <a:gd name="adj" fmla="val 17786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798" y="3606692"/>
            <a:ext cx="187003" cy="1495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8775" y="3560704"/>
            <a:ext cx="3060952" cy="57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Ogni azione è tracciata nell'audit log per garantire la piena tracciabilità operativa.</a:t>
            </a:r>
            <a:endParaRPr lang="en-US" sz="115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42880" y="368275"/>
            <a:ext cx="6552472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Sicurezza: Analisi Anti-SQL Injection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542880" y="1136601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AeroBase è stato sottoposto a test di sicurezza per valutare la resistenza agli attacchi SQL Injection. L'obiettivo è verificare come Django e le buone pratiche di programmazione proteggano i dati sensibili degli utenti.</a:t>
            </a:r>
            <a:endParaRPr lang="en-US" sz="12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EC8374EF-EF06-B955-7466-5D17BABA1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8455" y="2030880"/>
            <a:ext cx="5956062" cy="1685925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49DDEEF7-6534-3B33-DA7C-DD108B729FE7}"/>
              </a:ext>
            </a:extLst>
          </p:cNvPr>
          <p:cNvSpPr/>
          <p:nvPr/>
        </p:nvSpPr>
        <p:spPr>
          <a:xfrm>
            <a:off x="2279288" y="2255851"/>
            <a:ext cx="4388797" cy="1134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Test 1: </a:t>
            </a:r>
            <a:r>
              <a:rPr lang="it-IT" dirty="0"/>
              <a:t>Login Bypass (Tautologia) 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Test 2: </a:t>
            </a:r>
            <a:r>
              <a:rPr lang="it-IT" dirty="0" err="1"/>
              <a:t>Piggybacked</a:t>
            </a:r>
            <a:r>
              <a:rPr lang="it-IT" dirty="0"/>
              <a:t> Query 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Test 3: </a:t>
            </a:r>
            <a:r>
              <a:rPr lang="it-IT" dirty="0"/>
              <a:t>End-of-Line Comment Injection 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Analisi del Codice: </a:t>
            </a:r>
            <a:r>
              <a:rPr lang="it-IT" dirty="0"/>
              <a:t>Versione Debole vs Forte</a:t>
            </a:r>
            <a:endParaRPr lang="en-US" sz="16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B10F4804-C107-960D-9F42-53F39A0A9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114" y="3906721"/>
            <a:ext cx="6316394" cy="1136601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6AC544DF-B835-A1B2-F8E8-F18E8A5EFCD4}"/>
              </a:ext>
            </a:extLst>
          </p:cNvPr>
          <p:cNvSpPr/>
          <p:nvPr/>
        </p:nvSpPr>
        <p:spPr>
          <a:xfrm>
            <a:off x="835996" y="4207939"/>
            <a:ext cx="6022004" cy="64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dirty="0"/>
              <a:t>SQL Injection di Secondo Ordine (Attacco Indiretto) 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it-IT" dirty="0"/>
              <a:t>Altri Rischi e Contromisure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A3298A0-532A-BA64-6040-3F6834D0F4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30" r="24884"/>
          <a:stretch>
            <a:fillRect/>
          </a:stretch>
        </p:blipFill>
        <p:spPr>
          <a:xfrm>
            <a:off x="217885" y="299877"/>
            <a:ext cx="4912934" cy="4700136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2" name="Shape 0"/>
          <p:cNvSpPr/>
          <p:nvPr/>
        </p:nvSpPr>
        <p:spPr>
          <a:xfrm>
            <a:off x="523577" y="262075"/>
            <a:ext cx="434950" cy="224507"/>
          </a:xfrm>
          <a:prstGeom prst="roundRect">
            <a:avLst>
              <a:gd name="adj" fmla="val 674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 sz="2000"/>
          </a:p>
        </p:txBody>
      </p:sp>
      <p:sp>
        <p:nvSpPr>
          <p:cNvPr id="3" name="Text 1"/>
          <p:cNvSpPr/>
          <p:nvPr/>
        </p:nvSpPr>
        <p:spPr>
          <a:xfrm>
            <a:off x="599256" y="299877"/>
            <a:ext cx="740792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571349"/>
            <a:ext cx="4625429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Bypass del Login — Tautologia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30191" y="1068254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Payload inserito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30191" y="1373724"/>
            <a:ext cx="2633737" cy="438522"/>
          </a:xfrm>
          <a:prstGeom prst="roundRect">
            <a:avLst>
              <a:gd name="adj" fmla="val 20358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 sz="2400"/>
          </a:p>
        </p:txBody>
      </p:sp>
      <p:sp>
        <p:nvSpPr>
          <p:cNvPr id="11" name="Text 8"/>
          <p:cNvSpPr/>
          <p:nvPr/>
        </p:nvSpPr>
        <p:spPr>
          <a:xfrm>
            <a:off x="5481698" y="1478828"/>
            <a:ext cx="278792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 OR '1'='1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30191" y="2065698"/>
            <a:ext cx="214915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Obiettivo dell'attaccante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30191" y="2357848"/>
            <a:ext cx="2633737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Aggirare l'autenticazione senza conoscere la password, sfruttando una condizione SQL sempre vera per bypassare il controllo delle credenziali.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30191" y="3352508"/>
            <a:ext cx="2633737" cy="1380976"/>
          </a:xfrm>
          <a:prstGeom prst="roundRect">
            <a:avLst>
              <a:gd name="adj" fmla="val 12576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it-IT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465" y="3500287"/>
            <a:ext cx="157758" cy="1262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40361" y="3479905"/>
            <a:ext cx="2097360" cy="112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0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Accesso negato 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Django ORM interpreta il payload come una semplice stringa letterale, non come codice SQL eseguibile. La query parametrizzata neutralizza automaticamente l'attacco.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CB21D6A5-3AAF-A367-E9E3-62792FE4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23" r="27047"/>
          <a:stretch>
            <a:fillRect/>
          </a:stretch>
        </p:blipFill>
        <p:spPr>
          <a:xfrm>
            <a:off x="5514536" y="438248"/>
            <a:ext cx="2769938" cy="2924450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15714" b="15652"/>
          <a:stretch>
            <a:fillRect/>
          </a:stretch>
        </p:blipFill>
        <p:spPr>
          <a:xfrm>
            <a:off x="201743" y="699987"/>
            <a:ext cx="3144873" cy="215841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1004366" y="270490"/>
            <a:ext cx="448141" cy="222220"/>
          </a:xfrm>
          <a:prstGeom prst="roundRect">
            <a:avLst>
              <a:gd name="adj" fmla="val 7025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 sz="2000"/>
          </a:p>
        </p:txBody>
      </p:sp>
      <p:sp>
        <p:nvSpPr>
          <p:cNvPr id="3" name="Text 1"/>
          <p:cNvSpPr/>
          <p:nvPr/>
        </p:nvSpPr>
        <p:spPr>
          <a:xfrm>
            <a:off x="1070223" y="303381"/>
            <a:ext cx="703957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14269" y="202224"/>
            <a:ext cx="4030392" cy="9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Iniezione Distruttiva — </a:t>
            </a:r>
          </a:p>
          <a:p>
            <a:pPr lvl="1">
              <a:lnSpc>
                <a:spcPct val="104000"/>
              </a:lnSpc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Piggybacked Query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0219" y="2775109"/>
            <a:ext cx="17497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Payload inserito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0474" y="3062542"/>
            <a:ext cx="3433539" cy="382043"/>
          </a:xfrm>
          <a:prstGeom prst="roundRect">
            <a:avLst>
              <a:gd name="adj" fmla="val 32793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 sz="2400"/>
          </a:p>
        </p:txBody>
      </p:sp>
      <p:sp>
        <p:nvSpPr>
          <p:cNvPr id="8" name="Text 6"/>
          <p:cNvSpPr/>
          <p:nvPr/>
        </p:nvSpPr>
        <p:spPr>
          <a:xfrm>
            <a:off x="742335" y="3158310"/>
            <a:ext cx="3627016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hacker'; DROP TABLE Passeggero; 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0219" y="3595590"/>
            <a:ext cx="1929557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Obiettivo dell'attaccante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0474" y="3837807"/>
            <a:ext cx="343353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Eseguire un comando SQL distruttivo per eliminare la tabella dei passeggeri, causando perdita permanente di dati.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0219" y="4349735"/>
            <a:ext cx="17497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Risultato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0474" y="4601999"/>
            <a:ext cx="3433539" cy="352351"/>
          </a:xfrm>
          <a:prstGeom prst="roundRect">
            <a:avLst>
              <a:gd name="adj" fmla="val 4677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it-IT" sz="240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09" y="4752687"/>
            <a:ext cx="137294" cy="1098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7438" y="4702011"/>
            <a:ext cx="3423940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Attacco bloccato</a:t>
            </a:r>
            <a:endParaRPr lang="en-US" sz="1000" b="1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FDC71347-CB20-9504-F23F-151503E291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70" r="27046"/>
          <a:stretch>
            <a:fillRect/>
          </a:stretch>
        </p:blipFill>
        <p:spPr>
          <a:xfrm>
            <a:off x="4882253" y="2201109"/>
            <a:ext cx="2698873" cy="28801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99B9AB63-98B5-A540-F8F5-E8C4CAB5A2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68" r="33386" b="10583"/>
          <a:stretch>
            <a:fillRect/>
          </a:stretch>
        </p:blipFill>
        <p:spPr>
          <a:xfrm>
            <a:off x="14065" y="0"/>
            <a:ext cx="3886105" cy="51435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52577" y="333661"/>
            <a:ext cx="467395" cy="246683"/>
          </a:xfrm>
          <a:prstGeom prst="roundRect">
            <a:avLst>
              <a:gd name="adj" fmla="val 6596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2"/>
          <p:cNvSpPr/>
          <p:nvPr/>
        </p:nvSpPr>
        <p:spPr>
          <a:xfrm>
            <a:off x="4033912" y="374291"/>
            <a:ext cx="761926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3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186274" y="682228"/>
            <a:ext cx="4667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End-of-Line Comment Injection</a:t>
            </a:r>
            <a:endParaRPr lang="en-US" sz="2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8025" y="1674432"/>
            <a:ext cx="5082397" cy="16859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05630" y="182906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Payload inserito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3805630" y="2166681"/>
            <a:ext cx="4301430" cy="477887"/>
          </a:xfrm>
          <a:prstGeom prst="roundRect">
            <a:avLst>
              <a:gd name="adj" fmla="val 425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 sz="2000"/>
          </a:p>
        </p:txBody>
      </p:sp>
      <p:sp>
        <p:nvSpPr>
          <p:cNvPr id="11" name="Shape 6"/>
          <p:cNvSpPr/>
          <p:nvPr/>
        </p:nvSpPr>
        <p:spPr>
          <a:xfrm>
            <a:off x="3760757" y="2166681"/>
            <a:ext cx="4314974" cy="477887"/>
          </a:xfrm>
          <a:prstGeom prst="roundRect">
            <a:avLst>
              <a:gd name="adj" fmla="val 425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 sz="2000"/>
          </a:p>
        </p:txBody>
      </p:sp>
      <p:sp>
        <p:nvSpPr>
          <p:cNvPr id="12" name="Text 7"/>
          <p:cNvSpPr/>
          <p:nvPr/>
        </p:nvSpPr>
        <p:spPr>
          <a:xfrm>
            <a:off x="3968299" y="2281161"/>
            <a:ext cx="3976092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admin_demo' --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805629" y="2782755"/>
            <a:ext cx="4606851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L'attaccante tenta di commentare il controllo della password usando il simbolo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cercando di ottenere accesso senza fornire credenziali valide.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8025" y="3609826"/>
            <a:ext cx="5082398" cy="10100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05630" y="3764459"/>
            <a:ext cx="212251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Risultato: </a:t>
            </a: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Accesso negato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805630" y="4042321"/>
            <a:ext cx="4550576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Django sanitizza l'input impedendo l'interpretazione del commento SQL. Il simbolo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viene trattato come parte della stringa, non come operatore SQL.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90463"/>
            <a:ext cx="1047899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13321" y="535335"/>
            <a:ext cx="132561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ANALISI RAW 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31428"/>
            <a:ext cx="768935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SQL: Versione Debole vs Versione Forte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495797"/>
            <a:ext cx="8554045" cy="253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L'analisi si è concentrata sulla funzione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checkout_view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confrontando due approcci alla costruzione delle query SQL.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5900" y="1917725"/>
            <a:ext cx="4081314" cy="2735238"/>
          </a:xfrm>
          <a:prstGeom prst="roundRect">
            <a:avLst>
              <a:gd name="adj" fmla="val 820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5472" y="2067297"/>
            <a:ext cx="22173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 Versione Debole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5472" y="2441600"/>
            <a:ext cx="423936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Uso di f-string per costruire la query SQL dinamica.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5472" y="2849240"/>
            <a:ext cx="3782169" cy="777925"/>
          </a:xfrm>
          <a:prstGeom prst="roundRect">
            <a:avLst>
              <a:gd name="adj" fmla="val 2885"/>
            </a:avLst>
          </a:prstGeom>
          <a:solidFill>
            <a:srgbClr val="EC7DB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58031" y="2849240"/>
            <a:ext cx="3797052" cy="777925"/>
          </a:xfrm>
          <a:prstGeom prst="roundRect">
            <a:avLst>
              <a:gd name="adj" fmla="val 2885"/>
            </a:avLst>
          </a:prstGeom>
          <a:solidFill>
            <a:srgbClr val="EC7DB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45034" y="2998812"/>
            <a:ext cx="342304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f"SELECT * FROM prenotazioni WHERE utente = '{user}'"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5472" y="3795415"/>
            <a:ext cx="378216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Attacco riuscito: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utente malintenzionato può visualizzare prenotazioni appartenenti ad altri utenti.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9226" y="2067297"/>
            <a:ext cx="22173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Versione Forte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9226" y="2441600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Uso di Prepared Statements tramite parametri SQL.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9226" y="2849240"/>
            <a:ext cx="3865959" cy="1017315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751784" y="2849240"/>
            <a:ext cx="3880842" cy="1017315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938787" y="2998812"/>
            <a:ext cx="35068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"SELECT * FROM prenotazioni WHERE utente = %s"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cursor.execute(query, [user])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9226" y="4034805"/>
            <a:ext cx="3865959" cy="48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Risultato: </a:t>
            </a: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Attacco fallito. 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parametri vengono sempre trattati come dati, mai come codice.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BC80162-BD33-A772-56F3-C701727118AD}"/>
              </a:ext>
            </a:extLst>
          </p:cNvPr>
          <p:cNvSpPr txBox="1"/>
          <p:nvPr/>
        </p:nvSpPr>
        <p:spPr>
          <a:xfrm>
            <a:off x="246184" y="256511"/>
            <a:ext cx="5004581" cy="109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Codice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Vulnerabile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ed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Effetto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dell’Attacco</a:t>
            </a:r>
            <a:endParaRPr lang="en-US" sz="3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DE2899F-3C65-98F2-EFFD-D3E3757947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0" r="18775"/>
          <a:stretch>
            <a:fillRect/>
          </a:stretch>
        </p:blipFill>
        <p:spPr bwMode="auto">
          <a:xfrm>
            <a:off x="4196228" y="908922"/>
            <a:ext cx="4701588" cy="3498643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5B7ACFD-9EDE-AE44-B428-73AF94E6E4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8" y="1785082"/>
            <a:ext cx="5566752" cy="2957298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331141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A90D75-8904-6A80-F563-D8CC00F01978}"/>
              </a:ext>
            </a:extLst>
          </p:cNvPr>
          <p:cNvSpPr txBox="1"/>
          <p:nvPr/>
        </p:nvSpPr>
        <p:spPr>
          <a:xfrm>
            <a:off x="362243" y="401120"/>
            <a:ext cx="2710472" cy="2114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Codice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Sicuro e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Protezione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dei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Dati</a:t>
            </a:r>
            <a:endParaRPr lang="en-US" sz="3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27A2F30-FEE8-309B-FD08-6665A042DB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329" y="253140"/>
            <a:ext cx="5731510" cy="325183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DBC7694-66C4-E595-3B42-6F95F724EC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89"/>
          <a:stretch>
            <a:fillRect/>
          </a:stretch>
        </p:blipFill>
        <p:spPr bwMode="auto">
          <a:xfrm>
            <a:off x="396051" y="3178738"/>
            <a:ext cx="8351898" cy="1854744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6473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23577" y="437852"/>
            <a:ext cx="3922440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Difesa in Profondità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23577" y="1046250"/>
            <a:ext cx="6995605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sicurezza di AeroBase non si affida a un singolo livello di protezione. Ogni richiesta viene verificata su più fronti.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23577" y="1718965"/>
            <a:ext cx="3657417" cy="1771427"/>
          </a:xfrm>
          <a:prstGeom prst="roundRect">
            <a:avLst>
              <a:gd name="adj" fmla="val 521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8" name="Text 4"/>
          <p:cNvSpPr/>
          <p:nvPr/>
        </p:nvSpPr>
        <p:spPr>
          <a:xfrm>
            <a:off x="670843" y="1950638"/>
            <a:ext cx="1732583" cy="22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Livello Database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25263" y="2354426"/>
            <a:ext cx="325404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Statements e ORM garantiscono che nessun input venga mai interpretato come codice SQL eseguibile.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46017" y="1718965"/>
            <a:ext cx="3657417" cy="1771427"/>
          </a:xfrm>
          <a:prstGeom prst="roundRect">
            <a:avLst>
              <a:gd name="adj" fmla="val 5615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4997481" y="1950638"/>
            <a:ext cx="1732583" cy="22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👤</a:t>
            </a: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Livello Applicativo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76758" y="2354426"/>
            <a:ext cx="3185556" cy="1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sistema verifica che l'utente autenticato corrisponda al proprietario della prenotazione richiesta, bloccando accessi trasversali.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3577" y="3635350"/>
            <a:ext cx="7579857" cy="1070223"/>
          </a:xfrm>
          <a:prstGeom prst="roundRect">
            <a:avLst>
              <a:gd name="adj" fmla="val 995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670843" y="3782616"/>
            <a:ext cx="1732583" cy="22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🛡️</a:t>
            </a: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Validazione Input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0842" y="4154145"/>
            <a:ext cx="6581053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Validatori Django filtrano e sanificano ogni dato in ingresso prima che raggiunga il layer di persistenza.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004" y="340422"/>
            <a:ext cx="692125" cy="177701"/>
          </a:xfrm>
          <a:prstGeom prst="roundRect">
            <a:avLst>
              <a:gd name="adj" fmla="val 7104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69107" y="371973"/>
            <a:ext cx="1023119" cy="11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AVANZATO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230435" y="600819"/>
            <a:ext cx="4226942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Injection di Secondo Ordine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9107" y="1061003"/>
            <a:ext cx="7136659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Nell'iniezione di secondo ordine, il payload malevolo viene prima salvato nel database e poi eseguito in una query successiva, rendendo l'attacco più difficile da rilevare.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129" y="1548066"/>
            <a:ext cx="5312569" cy="24314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65997" y="3407746"/>
            <a:ext cx="997402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Esecuzione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8997" y="3407746"/>
            <a:ext cx="997402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Innesco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58829" y="3407746"/>
            <a:ext cx="997402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Persistenza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81334" y="3407746"/>
            <a:ext cx="997402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Semina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1073" y="3903504"/>
            <a:ext cx="7675847" cy="7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diagramma illustra le due fasi dell'attacco: </a:t>
            </a:r>
          </a:p>
          <a:p>
            <a:pPr marL="171450" indent="-17145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 l'inserimento del payload nel database, </a:t>
            </a:r>
          </a:p>
          <a:p>
            <a:pPr marL="171450" indent="-17145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 la sua esecuzione in una query successiva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37436" y="4175295"/>
            <a:ext cx="4445512" cy="824085"/>
          </a:xfrm>
          <a:prstGeom prst="roundRect">
            <a:avLst>
              <a:gd name="adj" fmla="val 13583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961" y="4133477"/>
            <a:ext cx="80636" cy="1834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304945"/>
            <a:ext cx="3915396" cy="50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0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Attacco non riuscito — 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Validators di Django e le query parametrizzate tramite ORM neutralizzano il payload sia in fase di scrittura sia in fase di lettura.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639636" y="380374"/>
            <a:ext cx="4267721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Altri Rischi e Contromisure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36" y="1029326"/>
            <a:ext cx="321394" cy="32139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9636" y="1488833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Hashing e Salt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963194" y="1793385"/>
            <a:ext cx="6359041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Django salva le password tramite hashing con salt casuale per ogni utente, rendendo impossibile il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recupero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delle credenziali anche in caso di data breach.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36" y="2467149"/>
            <a:ext cx="321394" cy="32139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9636" y="292665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963194" y="3210107"/>
            <a:ext cx="6359041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un ambiente di produzione reale, è fortemente consigliato implementare sistemi di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Rate Limiting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mitigare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attacchi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forza bruta sulle credenziali.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636" y="3820564"/>
            <a:ext cx="321394" cy="3213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9636" y="4280071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vs HTTPS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63194" y="4563522"/>
            <a:ext cx="6359041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produzione è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obbligatorio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utilizzare HTTPS per proteggere dati sensibili, credenziali e sessioni utente durante la trasmissione.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23577" y="459804"/>
            <a:ext cx="386744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Conclusioni</a:t>
            </a:r>
            <a:endParaRPr lang="en-US" sz="28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Text 2"/>
          <p:cNvSpPr/>
          <p:nvPr/>
        </p:nvSpPr>
        <p:spPr>
          <a:xfrm>
            <a:off x="523577" y="951087"/>
            <a:ext cx="5423095" cy="57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sistema dimostra come i principi di progettazione di basi di dati si traducano in un'applicazione reale, scalabile e affidabile.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767423"/>
            <a:ext cx="289843" cy="2898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8888" y="1760934"/>
            <a:ext cx="3141942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Integrazione DBMS–Web</a:t>
            </a:r>
            <a:endParaRPr lang="en-US" sz="1600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9" name="Text 4"/>
          <p:cNvSpPr/>
          <p:nvPr/>
        </p:nvSpPr>
        <p:spPr>
          <a:xfrm>
            <a:off x="988888" y="2058219"/>
            <a:ext cx="6670970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MySQL e Django lavorano in sinergia per garantire integrità referenziale e logica applicativa coerente.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844826"/>
            <a:ext cx="289843" cy="2898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8888" y="2845371"/>
            <a:ext cx="2706660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Alta Integrità dei Dati</a:t>
            </a:r>
            <a:endParaRPr lang="en-US" sz="1600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88888" y="3142655"/>
            <a:ext cx="6670970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Trigger, vincoli e politiche ON DELETE assicurano consistenza anche in scenari complessi.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943330"/>
            <a:ext cx="289843" cy="28984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8888" y="3929807"/>
            <a:ext cx="2724142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Alef" panose="00000500000000000000" pitchFamily="2" charset="-79"/>
                <a:ea typeface="Lora" pitchFamily="34" charset="-122"/>
                <a:cs typeface="Alef" panose="00000500000000000000" pitchFamily="2" charset="-79"/>
              </a:rPr>
              <a:t>Architettura Scalabile</a:t>
            </a:r>
            <a:endParaRPr lang="en-US" sz="1600" dirty="0">
              <a:solidFill>
                <a:srgbClr val="F98AC7"/>
              </a:solidFill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88888" y="4227091"/>
            <a:ext cx="6670970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Alef" panose="00000500000000000000" pitchFamily="2" charset="-79"/>
                <a:ea typeface="Source Sans 3" pitchFamily="34" charset="-122"/>
                <a:cs typeface="Alef" panose="00000500000000000000" pitchFamily="2" charset="-79"/>
              </a:rPr>
              <a:t>Il design multi-tenant e RBAC permette l'espansione a nuovi aeroporti senza modifiche strutturali.</a:t>
            </a:r>
            <a:endParaRPr lang="en-US" sz="14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0</TotalTime>
  <Words>3030</Words>
  <Application>Microsoft Office PowerPoint</Application>
  <PresentationFormat>Presentazione su schermo (16:9)</PresentationFormat>
  <Paragraphs>400</Paragraphs>
  <Slides>30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8" baseType="lpstr">
      <vt:lpstr>Source Sans 3</vt:lpstr>
      <vt:lpstr>Wingdings 2</vt:lpstr>
      <vt:lpstr>Alef</vt:lpstr>
      <vt:lpstr>Lora</vt:lpstr>
      <vt:lpstr>Arial</vt:lpstr>
      <vt:lpstr>Century Schoolbook</vt:lpstr>
      <vt:lpstr>Consolas</vt:lpstr>
      <vt:lpstr>Vista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Martina Lumastro</dc:creator>
  <cp:lastModifiedBy>Simone Lumastro</cp:lastModifiedBy>
  <cp:revision>7</cp:revision>
  <dcterms:created xsi:type="dcterms:W3CDTF">2026-06-14T18:00:43Z</dcterms:created>
  <dcterms:modified xsi:type="dcterms:W3CDTF">2026-06-24T21:13:40Z</dcterms:modified>
</cp:coreProperties>
</file>