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4119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2" r:id="rId10"/>
    <p:sldId id="288" r:id="rId11"/>
    <p:sldId id="269" r:id="rId12"/>
    <p:sldId id="263" r:id="rId13"/>
    <p:sldId id="264" r:id="rId14"/>
    <p:sldId id="270" r:id="rId15"/>
    <p:sldId id="276" r:id="rId16"/>
    <p:sldId id="271" r:id="rId17"/>
    <p:sldId id="287" r:id="rId18"/>
    <p:sldId id="272" r:id="rId19"/>
    <p:sldId id="273" r:id="rId20"/>
    <p:sldId id="274" r:id="rId21"/>
    <p:sldId id="277" r:id="rId22"/>
    <p:sldId id="278" r:id="rId23"/>
    <p:sldId id="279" r:id="rId24"/>
    <p:sldId id="280" r:id="rId25"/>
    <p:sldId id="281" r:id="rId26"/>
    <p:sldId id="285" r:id="rId27"/>
    <p:sldId id="286" r:id="rId28"/>
    <p:sldId id="282" r:id="rId29"/>
    <p:sldId id="283" r:id="rId30"/>
    <p:sldId id="284" r:id="rId31"/>
    <p:sldId id="275" r:id="rId32"/>
  </p:sldIdLst>
  <p:sldSz cx="9144000" cy="5143500" type="screen16x9"/>
  <p:notesSz cx="5143500" cy="9144000"/>
  <p:embeddedFontLst>
    <p:embeddedFont>
      <p:font typeface="Alef" panose="00000500000000000000" pitchFamily="2" charset="-79"/>
      <p:regular r:id="rId34"/>
      <p:bold r:id="rId35"/>
    </p:embeddedFont>
    <p:embeddedFont>
      <p:font typeface="Century Schoolbook" panose="02040604050505020304" pitchFamily="18" charset="0"/>
      <p:regular r:id="rId36"/>
      <p:bold r:id="rId37"/>
      <p:italic r:id="rId38"/>
      <p:boldItalic r:id="rId39"/>
    </p:embeddedFont>
    <p:embeddedFont>
      <p:font typeface="Consolas" panose="020B0609020204030204" pitchFamily="49" charset="0"/>
      <p:regular r:id="rId40"/>
      <p:bold r:id="rId41"/>
      <p:italic r:id="rId42"/>
      <p:boldItalic r:id="rId43"/>
    </p:embeddedFont>
    <p:embeddedFont>
      <p:font typeface="Lora" pitchFamily="2" charset="0"/>
      <p:regular r:id="rId44"/>
      <p:bold r:id="rId45"/>
      <p:italic r:id="rId46"/>
      <p:boldItalic r:id="rId47"/>
    </p:embeddedFont>
    <p:embeddedFont>
      <p:font typeface="Source Sans 3" panose="020B0604020202020204" charset="0"/>
      <p:regular r:id="rId48"/>
    </p:embeddedFont>
    <p:embeddedFont>
      <p:font typeface="Wingdings 2" panose="05020102010507070707" pitchFamily="18" charset="2"/>
      <p:regular r:id="rId4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predefinita" id="{26163B9B-F49D-43BB-A9FB-491847BA7A5E}">
          <p14:sldIdLst>
            <p14:sldId id="256"/>
            <p14:sldId id="257"/>
            <p14:sldId id="258"/>
            <p14:sldId id="259"/>
            <p14:sldId id="260"/>
            <p14:sldId id="267"/>
            <p14:sldId id="268"/>
            <p14:sldId id="261"/>
            <p14:sldId id="262"/>
            <p14:sldId id="288"/>
            <p14:sldId id="269"/>
            <p14:sldId id="263"/>
          </p14:sldIdLst>
        </p14:section>
        <p14:section name="Sezione senza titolo" id="{6757D3CF-8EB1-4DE2-BD5B-290173B67941}">
          <p14:sldIdLst>
            <p14:sldId id="264"/>
            <p14:sldId id="270"/>
            <p14:sldId id="276"/>
            <p14:sldId id="271"/>
            <p14:sldId id="287"/>
            <p14:sldId id="272"/>
            <p14:sldId id="273"/>
            <p14:sldId id="274"/>
            <p14:sldId id="277"/>
            <p14:sldId id="278"/>
            <p14:sldId id="279"/>
            <p14:sldId id="280"/>
            <p14:sldId id="281"/>
            <p14:sldId id="285"/>
            <p14:sldId id="286"/>
            <p14:sldId id="282"/>
            <p14:sldId id="283"/>
            <p14:sldId id="28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8AC7"/>
    <a:srgbClr val="D6E5EF"/>
    <a:srgbClr val="E3E3E3"/>
    <a:srgbClr val="B0BDC5"/>
    <a:srgbClr val="C76E9F"/>
    <a:srgbClr val="A7648F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382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44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7249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DDB3E-504F-BA23-1ABE-B4CB9F18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6707F5-1B62-BF39-9C32-1CC3AEE39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A225AD-54DE-A972-0F15-4773540CD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0F79A-6D89-D481-9A4D-E1EADB1C03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7796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FF6A6-C40E-CE91-9C3A-E49608228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EFA01-F04C-E8E9-761D-B4A218969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7D3D7-1719-9ED4-F20C-D72D26B3A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4D1C2-73D2-3637-F9BA-D40C34008F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064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6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vert="horz" lIns="45720" tIns="45720" rIns="45720" bIns="45720" rtlCol="0" anchor="ctr">
            <a:normAutofit/>
          </a:bodyPr>
          <a:lstStyle>
            <a:lvl1pPr>
              <a:defRPr lang="en-US"/>
            </a:lvl1pPr>
          </a:lstStyle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4668757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1297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862792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7856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8409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1">
                    <a:lumMod val="6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94860" y="1288409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lang="en-US" sz="1500" b="0" kern="1200" spc="8" baseline="0" dirty="0">
                <a:solidFill>
                  <a:schemeClr val="tx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66645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40375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0627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58245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92410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69934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4251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422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rgbClr val="969696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rgbClr val="777777"/>
                </a:solidFill>
              </a:defRPr>
            </a:lvl1pPr>
          </a:lstStyle>
          <a:p>
            <a:fld id="{48F63A3B-78C7-47BE-AE5E-E10140E04643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70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20" r:id="rId1"/>
    <p:sldLayoutId id="2147484121" r:id="rId2"/>
    <p:sldLayoutId id="2147484122" r:id="rId3"/>
    <p:sldLayoutId id="2147484123" r:id="rId4"/>
    <p:sldLayoutId id="2147484124" r:id="rId5"/>
    <p:sldLayoutId id="2147484125" r:id="rId6"/>
    <p:sldLayoutId id="2147484126" r:id="rId7"/>
    <p:sldLayoutId id="2147484127" r:id="rId8"/>
    <p:sldLayoutId id="2147484128" r:id="rId9"/>
    <p:sldLayoutId id="2147484129" r:id="rId10"/>
    <p:sldLayoutId id="2147484130" r:id="rId11"/>
    <p:sldLayoutId id="2147484131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svg"/><Relationship Id="rId5" Type="http://schemas.openxmlformats.org/officeDocument/2006/relationships/image" Target="../media/image42.svg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0.svg"/><Relationship Id="rId4" Type="http://schemas.openxmlformats.org/officeDocument/2006/relationships/image" Target="../media/image59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3.svg"/><Relationship Id="rId4" Type="http://schemas.openxmlformats.org/officeDocument/2006/relationships/image" Target="../media/image6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magine 20">
            <a:extLst>
              <a:ext uri="{FF2B5EF4-FFF2-40B4-BE49-F238E27FC236}">
                <a16:creationId xmlns:a16="http://schemas.microsoft.com/office/drawing/2014/main" id="{18184BDA-DD64-6074-D2C3-CA5ABF74A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85" y="3552195"/>
            <a:ext cx="3137703" cy="1504036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E45701E9-DB6B-4F6E-B386-DCBA7C08D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622" y="3622667"/>
            <a:ext cx="3150487" cy="1488380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B2041539-19E0-C959-2ABA-42DB91157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1064" y="2906017"/>
            <a:ext cx="3137703" cy="1499125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02ACF56D-48D6-7A2C-5757-AB88EC38F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22" y="-4454"/>
            <a:ext cx="5948578" cy="2832655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5" name="Text 1"/>
          <p:cNvSpPr/>
          <p:nvPr/>
        </p:nvSpPr>
        <p:spPr>
          <a:xfrm>
            <a:off x="293899" y="394093"/>
            <a:ext cx="3537421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AeroBase</a:t>
            </a:r>
            <a:endParaRPr lang="en-US" sz="2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2"/>
          <p:cNvSpPr/>
          <p:nvPr/>
        </p:nvSpPr>
        <p:spPr>
          <a:xfrm>
            <a:off x="293899" y="1002203"/>
            <a:ext cx="3656485" cy="1960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Sistema per la Gestione Aeroportuale</a:t>
            </a:r>
            <a:endParaRPr lang="en-US" sz="33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13068" y="3348591"/>
            <a:ext cx="1244054" cy="245938"/>
          </a:xfrm>
          <a:prstGeom prst="roundRect">
            <a:avLst>
              <a:gd name="adj" fmla="val 6388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5"/>
          <p:cNvSpPr/>
          <p:nvPr/>
        </p:nvSpPr>
        <p:spPr>
          <a:xfrm>
            <a:off x="599468" y="3387807"/>
            <a:ext cx="1449974" cy="1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PROGETTO BASE DATI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13068" y="3729420"/>
            <a:ext cx="1110258" cy="255463"/>
          </a:xfrm>
          <a:prstGeom prst="roundRect">
            <a:avLst>
              <a:gd name="adj" fmla="val 6149"/>
            </a:avLst>
          </a:prstGeom>
          <a:noFill/>
          <a:ln w="4763">
            <a:solidFill>
              <a:srgbClr val="F98AC7"/>
            </a:solidFill>
            <a:prstDash val="solid"/>
          </a:ln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99468" y="3773399"/>
            <a:ext cx="1266230" cy="1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00" dirty="0">
                <a:solidFill>
                  <a:srgbClr val="F98AC7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DATABASE DESIGN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13068" y="4158991"/>
            <a:ext cx="957592" cy="255463"/>
          </a:xfrm>
          <a:prstGeom prst="roundRect">
            <a:avLst>
              <a:gd name="adj" fmla="val 6149"/>
            </a:avLst>
          </a:prstGeom>
          <a:noFill/>
          <a:ln w="4763">
            <a:solidFill>
              <a:srgbClr val="F98AC7"/>
            </a:solidFill>
            <a:prstDash val="solid"/>
          </a:ln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99468" y="4202970"/>
            <a:ext cx="1110258" cy="1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00" dirty="0">
                <a:solidFill>
                  <a:srgbClr val="F98AC7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MULTI-TENANT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3"/>
          <p:cNvSpPr/>
          <p:nvPr/>
        </p:nvSpPr>
        <p:spPr>
          <a:xfrm>
            <a:off x="293899" y="2878557"/>
            <a:ext cx="5125045" cy="209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Progetto di Basi di Dati — Django + MySQL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317837" y="532987"/>
            <a:ext cx="3213497" cy="324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Contesto</a:t>
            </a:r>
            <a:endParaRPr lang="en-US" sz="3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2"/>
          <p:cNvSpPr/>
          <p:nvPr/>
        </p:nvSpPr>
        <p:spPr>
          <a:xfrm>
            <a:off x="317837" y="1342701"/>
            <a:ext cx="2547283" cy="865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AeroBase</a:t>
            </a: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è una piattaforma unificata per aeroporti, operatori e passeggeri.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Shape 3"/>
          <p:cNvSpPr/>
          <p:nvPr/>
        </p:nvSpPr>
        <p:spPr>
          <a:xfrm>
            <a:off x="199218" y="2519144"/>
            <a:ext cx="3844800" cy="769516"/>
          </a:xfrm>
          <a:prstGeom prst="roundRect">
            <a:avLst>
              <a:gd name="adj" fmla="val 215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4"/>
          <p:cNvSpPr/>
          <p:nvPr/>
        </p:nvSpPr>
        <p:spPr>
          <a:xfrm>
            <a:off x="309648" y="2639275"/>
            <a:ext cx="1322487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🛫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Gestione Integrata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5"/>
          <p:cNvSpPr/>
          <p:nvPr/>
        </p:nvSpPr>
        <p:spPr>
          <a:xfrm>
            <a:off x="309648" y="2877534"/>
            <a:ext cx="3584894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Coordinamento centralizzato di aeroporti, voli,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prenotazioni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personale operativo in un'unica piattaforma.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199218" y="3553295"/>
            <a:ext cx="3844800" cy="769516"/>
          </a:xfrm>
          <a:prstGeom prst="roundRect">
            <a:avLst>
              <a:gd name="adj" fmla="val 215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7"/>
          <p:cNvSpPr/>
          <p:nvPr/>
        </p:nvSpPr>
        <p:spPr>
          <a:xfrm>
            <a:off x="309648" y="3663726"/>
            <a:ext cx="1299418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🌐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Portale </a:t>
            </a:r>
            <a:r>
              <a:rPr lang="en-US" sz="1100" dirty="0" err="1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Clienti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09648" y="3886745"/>
            <a:ext cx="3584894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Interfaccia dedicata ai passeggeri per la ricerca voli, prenotazioni e gestione bagagli in autonomia.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472395" y="3092031"/>
            <a:ext cx="3844800" cy="769515"/>
          </a:xfrm>
          <a:prstGeom prst="roundRect">
            <a:avLst>
              <a:gd name="adj" fmla="val 2731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582826" y="3187223"/>
            <a:ext cx="1299418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🔧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Portale </a:t>
            </a:r>
            <a:r>
              <a:rPr lang="en-US" sz="1100" dirty="0" err="1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Operatori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4472395" y="4187539"/>
            <a:ext cx="3844800" cy="739331"/>
          </a:xfrm>
          <a:prstGeom prst="roundRect">
            <a:avLst>
              <a:gd name="adj" fmla="val 215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582825" y="4271239"/>
            <a:ext cx="1768227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🏢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Architettura Multi-Tenant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4582825" y="4517118"/>
            <a:ext cx="3584894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Più aeroporti condividono la stessa infrastruttura mantenendo i dati rigorosamente isolati e sicuri.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54A6AA4D-1FB9-71D5-D9A8-37D459B2BC32}"/>
              </a:ext>
            </a:extLst>
          </p:cNvPr>
          <p:cNvSpPr/>
          <p:nvPr/>
        </p:nvSpPr>
        <p:spPr>
          <a:xfrm>
            <a:off x="4602348" y="3430208"/>
            <a:ext cx="3584894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3000"/>
              </a:lnSpc>
            </a:pP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Pannello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operativo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riservato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agli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operatori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aeroportuali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per il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controllo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delle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attività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quotidiane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" name="Shape 6">
            <a:extLst>
              <a:ext uri="{FF2B5EF4-FFF2-40B4-BE49-F238E27FC236}">
                <a16:creationId xmlns:a16="http://schemas.microsoft.com/office/drawing/2014/main" id="{AF9B28F3-BC8C-29FC-3300-F2D5B7EB6D26}"/>
              </a:ext>
            </a:extLst>
          </p:cNvPr>
          <p:cNvSpPr/>
          <p:nvPr/>
        </p:nvSpPr>
        <p:spPr>
          <a:xfrm>
            <a:off x="4472395" y="1873516"/>
            <a:ext cx="3844800" cy="942835"/>
          </a:xfrm>
          <a:prstGeom prst="roundRect">
            <a:avLst>
              <a:gd name="adj" fmla="val 215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BFEBABD3-FAE7-98E4-364B-4EEEA04EB49E}"/>
              </a:ext>
            </a:extLst>
          </p:cNvPr>
          <p:cNvSpPr/>
          <p:nvPr/>
        </p:nvSpPr>
        <p:spPr>
          <a:xfrm>
            <a:off x="4582825" y="1983948"/>
            <a:ext cx="1299418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🌐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Area </a:t>
            </a:r>
            <a:r>
              <a:rPr lang="en-US" sz="1100" dirty="0" err="1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Pubblica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767ABA4D-7FE6-9045-F563-696276F40DE7}"/>
              </a:ext>
            </a:extLst>
          </p:cNvPr>
          <p:cNvSpPr/>
          <p:nvPr/>
        </p:nvSpPr>
        <p:spPr>
          <a:xfrm>
            <a:off x="4582825" y="2206967"/>
            <a:ext cx="3584894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È possible, senza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effettuare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il login/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registrazione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ricercare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voli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(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tramite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aeroporto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o data di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partenza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/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arrivo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) e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visualizzare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le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partenze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in tempo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reale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397669"/>
            <a:ext cx="3358976" cy="36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Obiettivi del Progetto</a:t>
            </a:r>
            <a:endParaRPr lang="en-US" sz="2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7" y="988740"/>
            <a:ext cx="7646423" cy="3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progetto AeroBase segue un percorso metodologico completo, dall'analisi del dominio alla realizzazione di un'applicazione web funzionante, con particolare attenzione alla qualità e alla sicurezza dei dati.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Text 2"/>
          <p:cNvSpPr/>
          <p:nvPr/>
        </p:nvSpPr>
        <p:spPr>
          <a:xfrm>
            <a:off x="523577" y="1498402"/>
            <a:ext cx="245418" cy="153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A7648F"/>
                </a:solidFill>
                <a:latin typeface="Alef" panose="00000500000000000000" pitchFamily="2" charset="-79"/>
                <a:ea typeface="Lora Light" pitchFamily="34" charset="-122"/>
                <a:cs typeface="Alef" panose="00000500000000000000" pitchFamily="2" charset="-79"/>
              </a:rPr>
              <a:t>01</a:t>
            </a:r>
            <a:endParaRPr lang="en-US" sz="950" dirty="0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1692622"/>
            <a:ext cx="3990901" cy="142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3577" y="1782514"/>
            <a:ext cx="1443856" cy="180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Analisi del Dominio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4"/>
          <p:cNvSpPr/>
          <p:nvPr/>
        </p:nvSpPr>
        <p:spPr>
          <a:xfrm>
            <a:off x="523577" y="2031950"/>
            <a:ext cx="3990901" cy="3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Studio approfondito del contesto aeroportuale per identificare entità, relazioni e regole di business fondamentali.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5"/>
          <p:cNvSpPr/>
          <p:nvPr/>
        </p:nvSpPr>
        <p:spPr>
          <a:xfrm>
            <a:off x="4629522" y="1498402"/>
            <a:ext cx="245418" cy="153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A7648F"/>
                </a:solidFill>
                <a:latin typeface="Alef" panose="00000500000000000000" pitchFamily="2" charset="-79"/>
                <a:ea typeface="Lora Light" pitchFamily="34" charset="-122"/>
                <a:cs typeface="Alef" panose="00000500000000000000" pitchFamily="2" charset="-79"/>
              </a:rPr>
              <a:t>02</a:t>
            </a:r>
            <a:endParaRPr lang="en-US" sz="950" dirty="0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522" y="1692622"/>
            <a:ext cx="3990901" cy="142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29522" y="1782514"/>
            <a:ext cx="1443856" cy="180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Progettazione E-R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629523" y="2031950"/>
            <a:ext cx="3768890" cy="3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Elaborazione del modello concettuale Entity-Relationship con tutte le entità e le associazioni del sistema.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3577" y="2619226"/>
            <a:ext cx="245418" cy="153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A7648F"/>
                </a:solidFill>
                <a:latin typeface="Alef" panose="00000500000000000000" pitchFamily="2" charset="-79"/>
                <a:ea typeface="Lora Light" pitchFamily="34" charset="-122"/>
                <a:cs typeface="Alef" panose="00000500000000000000" pitchFamily="2" charset="-79"/>
              </a:rPr>
              <a:t>03</a:t>
            </a:r>
            <a:endParaRPr lang="en-US" sz="950" dirty="0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2801169"/>
            <a:ext cx="3990901" cy="142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3577" y="2903339"/>
            <a:ext cx="1830884" cy="180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Modello Logico Relazionale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523577" y="3152775"/>
            <a:ext cx="3990901" cy="3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Derivazione dello schema relazionale normalizzato a partire dal diagramma E-R.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4629522" y="2619226"/>
            <a:ext cx="245418" cy="153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A7648F"/>
                </a:solidFill>
                <a:latin typeface="Alef" panose="00000500000000000000" pitchFamily="2" charset="-79"/>
                <a:ea typeface="Lora Light" pitchFamily="34" charset="-122"/>
                <a:cs typeface="Alef" panose="00000500000000000000" pitchFamily="2" charset="-79"/>
              </a:rPr>
              <a:t>04</a:t>
            </a:r>
            <a:endParaRPr lang="en-US" sz="950" dirty="0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522" y="2801169"/>
            <a:ext cx="3990901" cy="142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629522" y="2903339"/>
            <a:ext cx="1691208" cy="180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Implementazione MySQL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4629523" y="3152775"/>
            <a:ext cx="3768890" cy="3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Creazione del database con vincoli di integrità, trigger e ottimizzazioni per le prestazioni.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523577" y="3740051"/>
            <a:ext cx="245418" cy="153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A7648F"/>
                </a:solidFill>
                <a:latin typeface="Alef" panose="00000500000000000000" pitchFamily="2" charset="-79"/>
                <a:ea typeface="Lora Light" pitchFamily="34" charset="-122"/>
                <a:cs typeface="Alef" panose="00000500000000000000" pitchFamily="2" charset="-79"/>
              </a:rPr>
              <a:t>05</a:t>
            </a:r>
            <a:endParaRPr lang="en-US" sz="950" dirty="0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3909789"/>
            <a:ext cx="3990901" cy="1428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3577" y="4024164"/>
            <a:ext cx="1443856" cy="180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Sviluppo Django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523577" y="4273600"/>
            <a:ext cx="3990901" cy="3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Realizzazione dell'applicazione web con architettura MVC, ORM e gestione degli utenti.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4629522" y="3740051"/>
            <a:ext cx="245418" cy="153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A7648F"/>
                </a:solidFill>
                <a:latin typeface="Alef" panose="00000500000000000000" pitchFamily="2" charset="-79"/>
                <a:ea typeface="Lora Light" pitchFamily="34" charset="-122"/>
                <a:cs typeface="Alef" panose="00000500000000000000" pitchFamily="2" charset="-79"/>
              </a:rPr>
              <a:t>06</a:t>
            </a:r>
            <a:endParaRPr lang="en-US" sz="950" dirty="0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522" y="3909789"/>
            <a:ext cx="3990901" cy="1428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629522" y="4024164"/>
            <a:ext cx="1443856" cy="180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Integrità e Sicurezza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4629523" y="4273600"/>
            <a:ext cx="3768890" cy="8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9000"/>
              </a:lnSpc>
            </a:pPr>
            <a:r>
              <a:rPr lang="it-IT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Verifica integrità, consistenza e sicurezza dei dati tramite i</a:t>
            </a:r>
          </a:p>
          <a:p>
            <a:pPr>
              <a:lnSpc>
                <a:spcPct val="129000"/>
              </a:lnSpc>
            </a:pPr>
            <a:r>
              <a:rPr lang="it-IT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vincoli del DBMS (chiavi, UNIQUE, CHECK, trigger) e controlli applicativi</a:t>
            </a: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degli </a:t>
            </a:r>
            <a:r>
              <a:rPr lang="en-US" sz="105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accessi</a:t>
            </a: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</a:t>
            </a:r>
            <a:r>
              <a:rPr lang="en-US" sz="105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isolamento</a:t>
            </a: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multi-tenant del backend.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0189" y="468660"/>
            <a:ext cx="3537421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Attori del Sistema</a:t>
            </a:r>
            <a:endParaRPr lang="en-US" sz="2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0189" y="1031268"/>
            <a:ext cx="7860768" cy="562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AeroBase distingue due categorie principali di utenti, ciascuna con permessi, interfacce e funzionalità dedicate. Il sistema garantisce che ogni attore operi esclusivamente nell'ambito delle proprie competenze.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29295" y="1976511"/>
            <a:ext cx="4077295" cy="2398541"/>
          </a:xfrm>
          <a:prstGeom prst="roundRect">
            <a:avLst>
              <a:gd name="adj" fmla="val 974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0189" y="2132067"/>
            <a:ext cx="1997273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🧑‍✈️ Passeggero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4"/>
          <p:cNvSpPr/>
          <p:nvPr/>
        </p:nvSpPr>
        <p:spPr>
          <a:xfrm>
            <a:off x="560189" y="2509471"/>
            <a:ext cx="3815507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L'utente finale che interagisce con il portale pubblico per pianificare e gestire i propri viaggi.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0189" y="3046071"/>
            <a:ext cx="3815507" cy="1251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Ricerca voli e consultazione tabellone partenze/arrivi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Prenotazione con scelta del posto a sedere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Gestione bagagli: registrazione e tracking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Pagamento simulato con </a:t>
            </a:r>
            <a:r>
              <a:rPr lang="en-US" sz="1100" dirty="0" err="1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metodi</a:t>
            </a: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multipli</a:t>
            </a:r>
            <a:endParaRPr lang="en-US" sz="1100" dirty="0">
              <a:solidFill>
                <a:srgbClr val="000000"/>
              </a:solidFill>
              <a:latin typeface="Alef" panose="00000500000000000000" pitchFamily="2" charset="-79"/>
              <a:ea typeface="Source Sans 3" pitchFamily="34" charset="-122"/>
              <a:cs typeface="Alef" panose="00000500000000000000" pitchFamily="2" charset="-79"/>
            </a:endParaRP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n-US" sz="1100" dirty="0" err="1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Consultazione</a:t>
            </a: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delle </a:t>
            </a:r>
            <a:r>
              <a:rPr lang="en-US" sz="1100" dirty="0" err="1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prenotazioni</a:t>
            </a:r>
            <a:endParaRPr lang="en-US" sz="1100" dirty="0">
              <a:solidFill>
                <a:srgbClr val="000000"/>
              </a:solidFill>
              <a:latin typeface="Alef" panose="00000500000000000000" pitchFamily="2" charset="-79"/>
              <a:ea typeface="Source Sans 3" pitchFamily="34" charset="-122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n-US" sz="1100" dirty="0">
              <a:solidFill>
                <a:srgbClr val="000000"/>
              </a:solidFill>
              <a:latin typeface="Alef" panose="00000500000000000000" pitchFamily="2" charset="-79"/>
              <a:ea typeface="Source Sans 3" pitchFamily="34" charset="-122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n-US" sz="1100" dirty="0">
              <a:solidFill>
                <a:srgbClr val="000000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36455" y="2132067"/>
            <a:ext cx="2332434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👷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Operatori Aeroportuali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36455" y="2509471"/>
            <a:ext cx="3697127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personale autorizzato che gestisce le operazioni aeroportuali tramite l'area gestionale riservata.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736455" y="3046071"/>
            <a:ext cx="3888730" cy="974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Gestione voli: creazione, modifica e monitoraggio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Check-in bagagli e assegnazione ai voli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Gestione del personale aeroportuale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Tracciabilità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delle </a:t>
            </a:r>
            <a:r>
              <a:rPr lang="en-US" sz="11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operazioni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07045"/>
            <a:ext cx="3393058" cy="3669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Requisiti Funzionali</a:t>
            </a:r>
            <a:endParaRPr lang="en-US" sz="23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7" y="845270"/>
            <a:ext cx="7902971" cy="556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 requisiti funzionali di AeroBase coprono l'intero ciclo di vita del viaggio del passeggero e le operazioni quotidiane degli operatori aeroportuali, garantendo un'esperienza completa e sicura.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290" y="1535460"/>
            <a:ext cx="4003253" cy="11176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05445" y="1674465"/>
            <a:ext cx="1624087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Ricerca Voli e Tabellone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3"/>
          <p:cNvSpPr/>
          <p:nvPr/>
        </p:nvSpPr>
        <p:spPr>
          <a:xfrm>
            <a:off x="705445" y="1929259"/>
            <a:ext cx="3668092" cy="58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Ricerca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consultazione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dei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con filtri per data, compagnia aerea 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destinazione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</a:p>
          <a:p>
            <a:pPr marL="0" indent="0" algn="l">
              <a:lnSpc>
                <a:spcPct val="130000"/>
              </a:lnSpc>
              <a:buNone/>
            </a:pP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Tabellone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delle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partenze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aggiornato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automaticamente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7169" y="1535460"/>
            <a:ext cx="4003253" cy="111769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13325" y="1674465"/>
            <a:ext cx="1900833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Prenotazione e Scelta Posto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5"/>
          <p:cNvSpPr/>
          <p:nvPr/>
        </p:nvSpPr>
        <p:spPr>
          <a:xfrm>
            <a:off x="4813325" y="1929259"/>
            <a:ext cx="3668092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Flusso di prenotazione completo con selezione del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posto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verifica disponibilità e conferma immediata.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290" y="2772073"/>
            <a:ext cx="4003253" cy="92273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05445" y="2911078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Bagagli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7"/>
          <p:cNvSpPr/>
          <p:nvPr/>
        </p:nvSpPr>
        <p:spPr>
          <a:xfrm>
            <a:off x="705444" y="3165872"/>
            <a:ext cx="3729395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Conferma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bagagli al check-in, assegnazione al volo, tracking dello stato e notifica al passeggero in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caso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variazioni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di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stato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7169" y="2772073"/>
            <a:ext cx="4003253" cy="92273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813325" y="2911078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Pagamento Simulato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813325" y="3165872"/>
            <a:ext cx="3807096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Integrazione con metodi di pagamento simulati (carta, PayPal,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ecc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.) con registrazione delle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transazioni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290" y="3813721"/>
            <a:ext cx="4003253" cy="92273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05445" y="3952726"/>
            <a:ext cx="1523851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Voli e Ritardi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705445" y="4207520"/>
            <a:ext cx="3668092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Pannello operatori per aggiornare lo stato dei voli,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comunicare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ritardi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modificare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gate.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7169" y="3813721"/>
            <a:ext cx="4003253" cy="92273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13325" y="3952726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Audit Log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4813324" y="4207520"/>
            <a:ext cx="3807097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Registro di tutte le operazioni critiche eseguite dagli operatori, fondamentale per la tracciabilità e la conformità normativa.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magine 23">
            <a:extLst>
              <a:ext uri="{FF2B5EF4-FFF2-40B4-BE49-F238E27FC236}">
                <a16:creationId xmlns:a16="http://schemas.microsoft.com/office/drawing/2014/main" id="{B96D1952-3927-7104-6D01-E41A0801D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565" y="250079"/>
            <a:ext cx="4024136" cy="3863340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5" name="Text 1"/>
          <p:cNvSpPr/>
          <p:nvPr/>
        </p:nvSpPr>
        <p:spPr>
          <a:xfrm>
            <a:off x="344246" y="373232"/>
            <a:ext cx="4437087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Architettura</a:t>
            </a:r>
            <a:r>
              <a:rPr lang="en-US" sz="275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del Sistema</a:t>
            </a:r>
            <a:endParaRPr lang="en-US" sz="27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2"/>
          <p:cNvSpPr/>
          <p:nvPr/>
        </p:nvSpPr>
        <p:spPr>
          <a:xfrm>
            <a:off x="344247" y="1037600"/>
            <a:ext cx="447178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Piattaforma</a:t>
            </a:r>
            <a:r>
              <a:rPr lang="en-US" sz="11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con stack tecnologico moderno: </a:t>
            </a:r>
            <a:r>
              <a:rPr lang="en-US" sz="115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Python</a:t>
            </a:r>
            <a:r>
              <a:rPr lang="en-US" sz="11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115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Django</a:t>
            </a:r>
            <a:r>
              <a:rPr lang="en-US" sz="11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115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MySQL</a:t>
            </a:r>
            <a:r>
              <a:rPr lang="en-US" sz="11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</a:t>
            </a:r>
            <a:r>
              <a:rPr lang="en-US" sz="115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JavaScript asincrono</a:t>
            </a:r>
            <a:r>
              <a:rPr lang="en-US" sz="11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 Un'architettura a tre livelli che integra frontend, backend e database per la gestione completa delle operazioni aeroportuali.</a:t>
            </a:r>
            <a:endParaRPr lang="en-US" sz="11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3ADB46F-8FB2-CA5A-7B9F-EE2F8B246970}"/>
              </a:ext>
            </a:extLst>
          </p:cNvPr>
          <p:cNvSpPr/>
          <p:nvPr/>
        </p:nvSpPr>
        <p:spPr>
          <a:xfrm>
            <a:off x="284343" y="2173560"/>
            <a:ext cx="2422264" cy="17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Stack Tecnologico</a:t>
            </a:r>
            <a:endParaRPr lang="en-US" sz="2000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F8E3FCB3-0E79-F2AD-4650-389F536AE434}"/>
              </a:ext>
            </a:extLst>
          </p:cNvPr>
          <p:cNvSpPr/>
          <p:nvPr/>
        </p:nvSpPr>
        <p:spPr>
          <a:xfrm>
            <a:off x="284342" y="2537937"/>
            <a:ext cx="2474895" cy="1285177"/>
          </a:xfrm>
          <a:prstGeom prst="roundRect">
            <a:avLst>
              <a:gd name="adj" fmla="val 1686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31D7C0A-39D3-A11C-EB83-A55D077671CD}"/>
              </a:ext>
            </a:extLst>
          </p:cNvPr>
          <p:cNvSpPr/>
          <p:nvPr/>
        </p:nvSpPr>
        <p:spPr>
          <a:xfrm>
            <a:off x="400875" y="2654470"/>
            <a:ext cx="1816722" cy="17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Frontend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F3B60629-8885-64A5-7B2F-C16183865EE4}"/>
              </a:ext>
            </a:extLst>
          </p:cNvPr>
          <p:cNvSpPr/>
          <p:nvPr/>
        </p:nvSpPr>
        <p:spPr>
          <a:xfrm>
            <a:off x="400875" y="2929653"/>
            <a:ext cx="2166210" cy="529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HTML5, CSS3, JavaScript — interfaccia responsive per passeggeri e operatori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09A85ABF-64E8-9DFB-4D7E-23E89D363F03}"/>
              </a:ext>
            </a:extLst>
          </p:cNvPr>
          <p:cNvSpPr/>
          <p:nvPr/>
        </p:nvSpPr>
        <p:spPr>
          <a:xfrm>
            <a:off x="2882777" y="2537938"/>
            <a:ext cx="2474895" cy="1285176"/>
          </a:xfrm>
          <a:prstGeom prst="roundRect">
            <a:avLst>
              <a:gd name="adj" fmla="val 1686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31FD992-FD9F-772C-17CC-B337470D34E9}"/>
              </a:ext>
            </a:extLst>
          </p:cNvPr>
          <p:cNvSpPr/>
          <p:nvPr/>
        </p:nvSpPr>
        <p:spPr>
          <a:xfrm>
            <a:off x="2999310" y="2654470"/>
            <a:ext cx="1816722" cy="17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Backend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C7656420-A2BF-5C41-58EF-5F1A881B5C96}"/>
              </a:ext>
            </a:extLst>
          </p:cNvPr>
          <p:cNvSpPr/>
          <p:nvPr/>
        </p:nvSpPr>
        <p:spPr>
          <a:xfrm>
            <a:off x="2999310" y="2929653"/>
            <a:ext cx="2166210" cy="529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Django — framework Python con ORM integrato, autenticazione e admin panel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3B66916F-66E9-5458-24F9-0620E0570DBD}"/>
              </a:ext>
            </a:extLst>
          </p:cNvPr>
          <p:cNvSpPr/>
          <p:nvPr/>
        </p:nvSpPr>
        <p:spPr>
          <a:xfrm>
            <a:off x="284343" y="3911199"/>
            <a:ext cx="5087278" cy="744438"/>
          </a:xfrm>
          <a:prstGeom prst="roundRect">
            <a:avLst>
              <a:gd name="adj" fmla="val 2031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DF325E89-EC4F-12DD-21EF-CB1372ADE06C}"/>
              </a:ext>
            </a:extLst>
          </p:cNvPr>
          <p:cNvSpPr/>
          <p:nvPr/>
        </p:nvSpPr>
        <p:spPr>
          <a:xfrm>
            <a:off x="400875" y="4027731"/>
            <a:ext cx="1816722" cy="17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Database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233C23AC-5B4C-1A2D-CA36-4032EC613A83}"/>
              </a:ext>
            </a:extLst>
          </p:cNvPr>
          <p:cNvSpPr/>
          <p:nvPr/>
        </p:nvSpPr>
        <p:spPr>
          <a:xfrm>
            <a:off x="400874" y="4302914"/>
            <a:ext cx="4778593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MySQL — database relazionale con vincoli, trigger e ottimizzazioni per carichi elevati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53926"/>
            <a:ext cx="5205933" cy="398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Analisi Concettuale del Dominio</a:t>
            </a:r>
            <a:endParaRPr lang="en-US" sz="25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7" y="975495"/>
            <a:ext cx="8554045" cy="329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dominio aeroportuale è stato suddiviso in </a:t>
            </a:r>
            <a:r>
              <a:rPr lang="en-US" sz="1050" b="1" dirty="0">
                <a:solidFill>
                  <a:srgbClr val="F98AC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sette aree funzionali</a:t>
            </a:r>
            <a:r>
              <a:rPr lang="en-US" sz="10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garantire separazione delle responsabilità e manutenibilità del sistema.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23577" y="1443261"/>
            <a:ext cx="2282698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60" y="1578843"/>
            <a:ext cx="406747" cy="406747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1004" y="1690688"/>
            <a:ext cx="182984" cy="1829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9160" y="2108448"/>
            <a:ext cx="1595065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Utenti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Shape 4"/>
          <p:cNvSpPr/>
          <p:nvPr/>
        </p:nvSpPr>
        <p:spPr>
          <a:xfrm>
            <a:off x="3018289" y="1443261"/>
            <a:ext cx="2511360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5793" y="1578843"/>
            <a:ext cx="390318" cy="40674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145793" y="2108448"/>
            <a:ext cx="1530638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Aeroporti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Shape 6"/>
          <p:cNvSpPr/>
          <p:nvPr/>
        </p:nvSpPr>
        <p:spPr>
          <a:xfrm>
            <a:off x="5750140" y="1443261"/>
            <a:ext cx="2395057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5724" y="1578843"/>
            <a:ext cx="372242" cy="406747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5885723" y="2108448"/>
            <a:ext cx="1459753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Voli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523577" y="2566318"/>
            <a:ext cx="2282698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160" y="2701900"/>
            <a:ext cx="406747" cy="406747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1004" y="2813745"/>
            <a:ext cx="182984" cy="18298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659160" y="3231505"/>
            <a:ext cx="1652960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Prenotazioni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3010210" y="2566318"/>
            <a:ext cx="2511360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45793" y="2701900"/>
            <a:ext cx="390318" cy="406747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145795" y="3231505"/>
            <a:ext cx="1595065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Bagagli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5750140" y="2566318"/>
            <a:ext cx="2395057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25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5724" y="2701900"/>
            <a:ext cx="372242" cy="406747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5885723" y="3231505"/>
            <a:ext cx="1459753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 Pagamenti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523578" y="3689375"/>
            <a:ext cx="7621620" cy="1000199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9160" y="3824957"/>
            <a:ext cx="406747" cy="40674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1004" y="3936802"/>
            <a:ext cx="182984" cy="18298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659160" y="4354562"/>
            <a:ext cx="1595065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Tabellone Pubblico</a:t>
            </a:r>
            <a:endParaRPr lang="en-US" sz="12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11660" y="213933"/>
            <a:ext cx="2334220" cy="234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Diagramma E-R</a:t>
            </a:r>
            <a:endParaRPr lang="en-US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337625" y="549838"/>
            <a:ext cx="8095957" cy="377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modello concettuale Entity-Relationship rappresenta le principali entità del sistema e le loro relazioni. Il diagramma è stato progettato per catturare fedelmente la complessità del dominio aeroportuale, includendo specializzazioni, associazioni N:M e attributi composti.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Shape 2"/>
          <p:cNvSpPr/>
          <p:nvPr/>
        </p:nvSpPr>
        <p:spPr>
          <a:xfrm>
            <a:off x="647701" y="4497769"/>
            <a:ext cx="7399020" cy="431797"/>
          </a:xfrm>
          <a:prstGeom prst="roundRect">
            <a:avLst>
              <a:gd name="adj" fmla="val 24774"/>
            </a:avLst>
          </a:prstGeom>
          <a:solidFill>
            <a:srgbClr val="022349"/>
          </a:solidFill>
          <a:ln/>
        </p:spPr>
        <p:txBody>
          <a:bodyPr/>
          <a:lstStyle/>
          <a:p>
            <a:endParaRPr lang="it-IT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22" y="4606742"/>
            <a:ext cx="124613" cy="9042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1325" y="4561394"/>
            <a:ext cx="6975332" cy="232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diagramma E-R completo esportato da draw.io dovrebbe essere inserito in questa sezione per la visualizzazione dettagliata di tutte le entità, attributi e relazioni con le relative cardinalità.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94D12A05-CCCB-42A0-95AB-DFBB9B5812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1289" y="990526"/>
            <a:ext cx="5038407" cy="33544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0592" y="220979"/>
            <a:ext cx="3855195" cy="336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Modello Logico Relazionale</a:t>
            </a:r>
            <a:endParaRPr lang="en-US" sz="2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58540" y="148035"/>
            <a:ext cx="4827506" cy="4496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Lo schema relazionale derivato dal modello E-R è composto da 14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tabelle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9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normalizzate</a:t>
            </a:r>
            <a:r>
              <a:rPr lang="en-US" sz="9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 Ogni tabella include chiavi primarie, vincoli di integrità referenziale e attributi ottimizzati per le query frequenti.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56240" y="680750"/>
            <a:ext cx="8229807" cy="4411950"/>
          </a:xfrm>
          <a:prstGeom prst="roundRect">
            <a:avLst>
              <a:gd name="adj" fmla="val 455"/>
            </a:avLst>
          </a:prstGeom>
          <a:solidFill>
            <a:srgbClr val="303030"/>
          </a:solidFill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5949" y="751939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AEROPORTO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4"/>
          <p:cNvSpPr/>
          <p:nvPr/>
        </p:nvSpPr>
        <p:spPr>
          <a:xfrm>
            <a:off x="1991424" y="751939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codice_iata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nome_aeroporto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citta, nazione,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codice_icao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5949" y="1015886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GATE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6"/>
          <p:cNvSpPr/>
          <p:nvPr/>
        </p:nvSpPr>
        <p:spPr>
          <a:xfrm>
            <a:off x="1991424" y="1015886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codice_gate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codice_aeroporto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terminal, internazionale,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area_imbarco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5949" y="1279833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AEREO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991424" y="1279833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id_aereo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modello,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capacita_passeggeri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codice_vettore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5949" y="1543779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COMPAGNIA_AEREA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991424" y="1543779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codice_vettore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nome_compagnia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nazione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5949" y="1807726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991424" y="1807726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numero_volo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orario_partenza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orario_arrivo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partenza FK,</a:t>
            </a:r>
          </a:p>
          <a:p>
            <a:pPr>
              <a:lnSpc>
                <a:spcPct val="120000"/>
              </a:lnSpc>
            </a:pP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destinazione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id_aereo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codice_gate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stato,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ritardo_minuti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prezzo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5949" y="2155493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VOLO_NAZIONALE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991424" y="2155493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PK/FK,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agevolazioni_statali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tipo_agevolazione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15949" y="2815679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PASSEGGERO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91424" y="2815679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username PK,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nome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cognome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email UNIQUE,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numero_passaporto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</a:t>
            </a:r>
          </a:p>
          <a:p>
            <a:pPr>
              <a:lnSpc>
                <a:spcPct val="120000"/>
              </a:lnSpc>
            </a:pP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cellulare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nazionalita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codice_carta_identità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codice_fiscale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id_user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 UNIQUE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5949" y="3239646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OPERATORE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991424" y="3239646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codice_operatore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nome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cognome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email UNIQUE,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cellulare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ruolo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codice_aeroporto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en-US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id_user</a:t>
            </a:r>
            <a:r>
              <a:rPr lang="en-US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 UNIQUE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15949" y="3503593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PRENOTAZIONE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991424" y="3503593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username_passeggero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PK/FK,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PK/FK,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id_prenotazione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data_acquisto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posto, classe,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stato_pagamento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15949" y="3767539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BAGAGLIO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991424" y="3767539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id_bagaglio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peso_kg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tipo,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username_passeggero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codice_operatore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stato,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data_aggiornamento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15949" y="4031486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TRANSAZIONE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991424" y="4031486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id_transazione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username_passeggero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importo,</a:t>
            </a:r>
          </a:p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id_transazione_esterno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UNIQUE,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metodo_usato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stato,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data_pagamento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15949" y="4440213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METODO_PAGAMENTO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991424" y="4440213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id_metodo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username_passeggero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intestatario,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ultime_cifre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</a:t>
            </a:r>
          </a:p>
          <a:p>
            <a:pPr>
              <a:lnSpc>
                <a:spcPct val="120000"/>
              </a:lnSpc>
            </a:pPr>
            <a:r>
              <a:rPr lang="it-IT" sz="800" i="1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mese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_scadenza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anno_scadenza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token_pagamento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data_registrazione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15949" y="4848939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GESTIONE_VOLO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991424" y="4848939"/>
            <a:ext cx="5659264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id_gestione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codice_operatore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timestamp_modifica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tipo_operazione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7C68BC3B-3DC1-CB63-AAFD-EAF4C0307800}"/>
              </a:ext>
            </a:extLst>
          </p:cNvPr>
          <p:cNvSpPr/>
          <p:nvPr/>
        </p:nvSpPr>
        <p:spPr>
          <a:xfrm>
            <a:off x="415949" y="2422193"/>
            <a:ext cx="2566169" cy="149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VOLO_INTERNAZIONALE</a:t>
            </a:r>
            <a:endParaRPr lang="en-US" sz="9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4AAB4F4E-4982-D2A0-1287-CC81630C9824}"/>
              </a:ext>
            </a:extLst>
          </p:cNvPr>
          <p:cNvSpPr/>
          <p:nvPr/>
        </p:nvSpPr>
        <p:spPr>
          <a:xfrm>
            <a:off x="1991424" y="2422192"/>
            <a:ext cx="6055296" cy="157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PK/FK,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richiede_passaporto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tipo_visto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validita_minima_passaporto_mesi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fuso_orario_destinazione</a:t>
            </a:r>
            <a:r>
              <a:rPr lang="it-IT" sz="8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</a:t>
            </a:r>
          </a:p>
          <a:p>
            <a:pPr>
              <a:lnSpc>
                <a:spcPct val="120000"/>
              </a:lnSpc>
            </a:pPr>
            <a:r>
              <a:rPr lang="it-IT" sz="8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certificazioni_sanitarie_richieste</a:t>
            </a:r>
            <a:endParaRPr lang="en-US" sz="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980AF-0563-1C35-1596-746290769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2314E8-58B5-3E7E-1A02-8894232460EB}"/>
              </a:ext>
            </a:extLst>
          </p:cNvPr>
          <p:cNvSpPr/>
          <p:nvPr/>
        </p:nvSpPr>
        <p:spPr>
          <a:xfrm>
            <a:off x="431749" y="302456"/>
            <a:ext cx="3391347" cy="40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it-IT" sz="2000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Dal Modello E-R al Modello Logico: Le Gerarchie</a:t>
            </a:r>
            <a:endParaRPr lang="en-US" sz="2000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219DBF1-EAB0-10E8-C201-2A7DC16EB83A}"/>
              </a:ext>
            </a:extLst>
          </p:cNvPr>
          <p:cNvSpPr/>
          <p:nvPr/>
        </p:nvSpPr>
        <p:spPr>
          <a:xfrm>
            <a:off x="458081" y="779176"/>
            <a:ext cx="1895103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400" b="1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Il Problema: La Specializzazione dei Voli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E87FC91-C9AA-2578-C3EA-6BF05F9FF3AB}"/>
              </a:ext>
            </a:extLst>
          </p:cNvPr>
          <p:cNvSpPr/>
          <p:nvPr/>
        </p:nvSpPr>
        <p:spPr>
          <a:xfrm>
            <a:off x="431749" y="1109936"/>
            <a:ext cx="7291414" cy="6282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Nel Diagramma E-R l'entità padre </a:t>
            </a:r>
            <a:r>
              <a:rPr lang="it-IT" sz="1100" b="1" dirty="0">
                <a:latin typeface="Alef" panose="00000500000000000000" pitchFamily="2" charset="-79"/>
                <a:cs typeface="Alef" panose="00000500000000000000" pitchFamily="2" charset="-79"/>
              </a:rPr>
              <a:t>Volo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 si specializza nei figli </a:t>
            </a:r>
            <a:r>
              <a:rPr lang="it-IT" sz="1100" b="1" dirty="0">
                <a:latin typeface="Alef" panose="00000500000000000000" pitchFamily="2" charset="-79"/>
                <a:cs typeface="Alef" panose="00000500000000000000" pitchFamily="2" charset="-79"/>
              </a:rPr>
              <a:t>Volo Nazionale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 e </a:t>
            </a:r>
            <a:r>
              <a:rPr lang="it-IT" sz="1100" b="1" dirty="0">
                <a:latin typeface="Alef" panose="00000500000000000000" pitchFamily="2" charset="-79"/>
                <a:cs typeface="Alef" panose="00000500000000000000" pitchFamily="2" charset="-79"/>
              </a:rPr>
              <a:t>Volo Internazionale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.</a:t>
            </a:r>
          </a:p>
          <a:p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I figli hanno attributi specifici diversi (es. </a:t>
            </a:r>
            <a:r>
              <a:rPr lang="it-IT" sz="1100" i="1" dirty="0">
                <a:latin typeface="Alef" panose="00000500000000000000" pitchFamily="2" charset="-79"/>
                <a:cs typeface="Alef" panose="00000500000000000000" pitchFamily="2" charset="-79"/>
              </a:rPr>
              <a:t>Passaporto/Visti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 vs </a:t>
            </a:r>
            <a:r>
              <a:rPr lang="it-IT" sz="1100" i="1" dirty="0">
                <a:latin typeface="Alef" panose="00000500000000000000" pitchFamily="2" charset="-79"/>
                <a:cs typeface="Alef" panose="00000500000000000000" pitchFamily="2" charset="-79"/>
              </a:rPr>
              <a:t>Agevolazioni Statali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).</a:t>
            </a: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97240BB-8644-87A7-5018-EB1F88D5131E}"/>
              </a:ext>
            </a:extLst>
          </p:cNvPr>
          <p:cNvSpPr/>
          <p:nvPr/>
        </p:nvSpPr>
        <p:spPr>
          <a:xfrm>
            <a:off x="431749" y="1659244"/>
            <a:ext cx="1895103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400" b="1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 Tre Approcci Possibili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841BCAE-5E4C-9FD0-0630-7B9C10FA9F0F}"/>
              </a:ext>
            </a:extLst>
          </p:cNvPr>
          <p:cNvSpPr/>
          <p:nvPr/>
        </p:nvSpPr>
        <p:spPr>
          <a:xfrm>
            <a:off x="431749" y="2004237"/>
            <a:ext cx="3261020" cy="40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b="1" dirty="0">
                <a:latin typeface="Alef" panose="00000500000000000000" pitchFamily="2" charset="-79"/>
                <a:cs typeface="Alef" panose="00000500000000000000" pitchFamily="2" charset="-79"/>
              </a:rPr>
              <a:t>1. Tabella Unica (Accorpamento nel Padre):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 Unica tabella per tutti i voli; genera troppi valori NULL e spreco di spazio per i campi non applicabili.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b="1" dirty="0">
                <a:latin typeface="Alef" panose="00000500000000000000" pitchFamily="2" charset="-79"/>
                <a:cs typeface="Alef" panose="00000500000000000000" pitchFamily="2" charset="-79"/>
              </a:rPr>
              <a:t>2. Tabelle Separate senza Padre (Collasso nei Figli):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 Elimina il padre creando due tabelle isolate; complica l'integrità referenziale (es. le Prenotazioni non sanno a quale tabella puntare).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b="1" dirty="0">
                <a:latin typeface="Alef" panose="00000500000000000000" pitchFamily="2" charset="-79"/>
                <a:cs typeface="Alef" panose="00000500000000000000" pitchFamily="2" charset="-79"/>
              </a:rPr>
              <a:t>3. Tabelle Separate con Relazione 1:1 (Partizionamento):</a:t>
            </a: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 Mantiene sia la tabella padre che le tabelle figlie, collegate tramite Chiave Primaria/Esterna.</a:t>
            </a: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BB2F116E-7296-FC83-CF2F-91A3D64FE797}"/>
              </a:ext>
            </a:extLst>
          </p:cNvPr>
          <p:cNvSpPr/>
          <p:nvPr/>
        </p:nvSpPr>
        <p:spPr>
          <a:xfrm>
            <a:off x="4345159" y="1659244"/>
            <a:ext cx="1895103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400" b="1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La Scelta di </a:t>
            </a:r>
            <a:r>
              <a:rPr lang="it-IT" sz="1400" b="1" dirty="0" err="1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AeroBase</a:t>
            </a:r>
            <a:r>
              <a:rPr lang="it-IT" sz="1400" b="1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&amp; Motivazioni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3DDB05C9-35BC-0F9A-6DE2-1F0147A9870B}"/>
              </a:ext>
            </a:extLst>
          </p:cNvPr>
          <p:cNvSpPr/>
          <p:nvPr/>
        </p:nvSpPr>
        <p:spPr>
          <a:xfrm>
            <a:off x="4345160" y="2097019"/>
            <a:ext cx="3553850" cy="2812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Approccio Scelto: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Partizionamento verticale (Tabelle separate collegate in 1:1 via </a:t>
            </a:r>
            <a:r>
              <a:rPr lang="it-IT" sz="1200" dirty="0" err="1">
                <a:latin typeface="Alef" panose="00000500000000000000" pitchFamily="2" charset="-79"/>
                <a:cs typeface="Alef" panose="00000500000000000000" pitchFamily="2" charset="-79"/>
              </a:rPr>
              <a:t>OneToOneField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in Django).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Zero Spreco di Spazio: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Elimina i valori NULL mantenendo il database pulito e normalizzato.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Integrità Centralizzata: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Tabelle come Prenotazione e Bagaglio puntano linearmente a un solo </a:t>
            </a:r>
            <a:r>
              <a:rPr lang="it-IT" sz="1200" dirty="0" err="1">
                <a:latin typeface="Alef" panose="00000500000000000000" pitchFamily="2" charset="-79"/>
                <a:cs typeface="Alef" panose="00000500000000000000" pitchFamily="2" charset="-79"/>
              </a:rPr>
              <a:t>id_volo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nella tabella padre.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Flessibilità Futura: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Scalabile per aggiungere nuove tipologie di volo (es. </a:t>
            </a:r>
            <a:r>
              <a:rPr lang="it-IT" sz="1200" i="1" dirty="0">
                <a:latin typeface="Alef" panose="00000500000000000000" pitchFamily="2" charset="-79"/>
                <a:cs typeface="Alef" panose="00000500000000000000" pitchFamily="2" charset="-79"/>
              </a:rPr>
              <a:t>Cargo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) senza modificare le tabelle esistenti.</a:t>
            </a:r>
          </a:p>
        </p:txBody>
      </p:sp>
    </p:spTree>
    <p:extLst>
      <p:ext uri="{BB962C8B-B14F-4D97-AF65-F5344CB8AC3E}">
        <p14:creationId xmlns:p14="http://schemas.microsoft.com/office/powerpoint/2010/main" val="4273345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49" y="302456"/>
            <a:ext cx="3391347" cy="40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Generalizzazione Utente</a:t>
            </a:r>
            <a:endParaRPr lang="en-US" sz="2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14" y="681717"/>
            <a:ext cx="3345051" cy="33450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26180" y="839003"/>
            <a:ext cx="1895103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Scelta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Progettuale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Text 2"/>
          <p:cNvSpPr/>
          <p:nvPr/>
        </p:nvSpPr>
        <p:spPr>
          <a:xfrm>
            <a:off x="3726180" y="1145724"/>
            <a:ext cx="4529593" cy="40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>
              <a:lnSpc>
                <a:spcPct val="111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Autenticazione delegata al sistema nativo Django (</a:t>
            </a:r>
            <a:r>
              <a:rPr lang="it-IT" sz="1200" b="1" dirty="0" err="1">
                <a:latin typeface="Alef" panose="00000500000000000000" pitchFamily="2" charset="-79"/>
                <a:cs typeface="Alef" panose="00000500000000000000" pitchFamily="2" charset="-79"/>
              </a:rPr>
              <a:t>auth_user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).</a:t>
            </a:r>
          </a:p>
          <a:p>
            <a:pPr marL="171450" indent="-171450">
              <a:lnSpc>
                <a:spcPct val="111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Separazione tra dati di accesso e dati applicativi.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2306" y="4215035"/>
            <a:ext cx="2620694" cy="73090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518559" y="4329782"/>
            <a:ext cx="1047827" cy="19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C76E9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Passeggero</a:t>
            </a:r>
            <a:endParaRPr lang="en-US" sz="1200" dirty="0">
              <a:solidFill>
                <a:srgbClr val="C76E9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4"/>
          <p:cNvSpPr/>
          <p:nvPr/>
        </p:nvSpPr>
        <p:spPr>
          <a:xfrm>
            <a:off x="3153196" y="4518049"/>
            <a:ext cx="2620754" cy="177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Dati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personali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documenti di viaggio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3919" y="4215035"/>
            <a:ext cx="2620754" cy="73090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60189" y="4329782"/>
            <a:ext cx="1047827" cy="19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C76E9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Operatore</a:t>
            </a:r>
            <a:endParaRPr lang="en-US" sz="1200" dirty="0">
              <a:solidFill>
                <a:srgbClr val="C76E9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6"/>
          <p:cNvSpPr/>
          <p:nvPr/>
        </p:nvSpPr>
        <p:spPr>
          <a:xfrm>
            <a:off x="5994810" y="4518049"/>
            <a:ext cx="2620821" cy="177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Dati lavorativi e aeroporto assegnato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6813B39-6EE7-7E53-F14E-C2781329DBC0}"/>
              </a:ext>
            </a:extLst>
          </p:cNvPr>
          <p:cNvSpPr/>
          <p:nvPr/>
        </p:nvSpPr>
        <p:spPr>
          <a:xfrm>
            <a:off x="3726180" y="1988219"/>
            <a:ext cx="1895103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Implementazione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2B712FE6-8DF9-0DAF-4ED0-EEC4D1E67715}"/>
              </a:ext>
            </a:extLst>
          </p:cNvPr>
          <p:cNvSpPr/>
          <p:nvPr/>
        </p:nvSpPr>
        <p:spPr>
          <a:xfrm>
            <a:off x="3726180" y="2294940"/>
            <a:ext cx="4529593" cy="40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>
              <a:lnSpc>
                <a:spcPct val="111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Relazione </a:t>
            </a: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1:1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tramite </a:t>
            </a:r>
            <a:r>
              <a:rPr lang="it-IT" sz="1200" dirty="0" err="1">
                <a:latin typeface="Alef" panose="00000500000000000000" pitchFamily="2" charset="-79"/>
                <a:cs typeface="Alef" panose="00000500000000000000" pitchFamily="2" charset="-79"/>
              </a:rPr>
              <a:t>id_user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(</a:t>
            </a: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FK UNIQUE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).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5C80D768-256E-A342-5EBC-ACDB53BFF5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86" y="4207415"/>
            <a:ext cx="2620694" cy="730903"/>
          </a:xfrm>
          <a:prstGeom prst="rect">
            <a:avLst/>
          </a:prstGeom>
        </p:spPr>
      </p:pic>
      <p:sp>
        <p:nvSpPr>
          <p:cNvPr id="18" name="Text 3">
            <a:extLst>
              <a:ext uri="{FF2B5EF4-FFF2-40B4-BE49-F238E27FC236}">
                <a16:creationId xmlns:a16="http://schemas.microsoft.com/office/drawing/2014/main" id="{7E081F98-4B52-E92A-19DD-2C44BC3D6C32}"/>
              </a:ext>
            </a:extLst>
          </p:cNvPr>
          <p:cNvSpPr/>
          <p:nvPr/>
        </p:nvSpPr>
        <p:spPr>
          <a:xfrm>
            <a:off x="691539" y="4322162"/>
            <a:ext cx="1047827" cy="19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 err="1">
                <a:solidFill>
                  <a:srgbClr val="C76E9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Auth_user</a:t>
            </a:r>
            <a:endParaRPr lang="en-US" sz="1200" dirty="0">
              <a:solidFill>
                <a:srgbClr val="C76E9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200A1022-ABF9-3A95-E3D9-67C97CD1B3B9}"/>
              </a:ext>
            </a:extLst>
          </p:cNvPr>
          <p:cNvSpPr/>
          <p:nvPr/>
        </p:nvSpPr>
        <p:spPr>
          <a:xfrm>
            <a:off x="326176" y="4510429"/>
            <a:ext cx="2620754" cy="177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Credenziali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sessioni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password hash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88053ABC-B601-24D1-B079-F0C6392E8C65}"/>
              </a:ext>
            </a:extLst>
          </p:cNvPr>
          <p:cNvSpPr/>
          <p:nvPr/>
        </p:nvSpPr>
        <p:spPr>
          <a:xfrm>
            <a:off x="3726180" y="2693587"/>
            <a:ext cx="1895103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Vantaggi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DB89B8F1-AC6A-C984-AC49-21AA5AF85F17}"/>
              </a:ext>
            </a:extLst>
          </p:cNvPr>
          <p:cNvSpPr/>
          <p:nvPr/>
        </p:nvSpPr>
        <p:spPr>
          <a:xfrm>
            <a:off x="3726180" y="3000307"/>
            <a:ext cx="4529593" cy="626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>
              <a:lnSpc>
                <a:spcPct val="111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Maggiore sicurezza. </a:t>
            </a:r>
          </a:p>
          <a:p>
            <a:pPr marL="171450" indent="-171450">
              <a:lnSpc>
                <a:spcPct val="111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Riutilizzo del framework di autenticazione Django. </a:t>
            </a:r>
          </a:p>
          <a:p>
            <a:pPr marL="171450" indent="-171450">
              <a:lnSpc>
                <a:spcPct val="111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Separazione tra profili clienti e dipendenti.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06769" y="211637"/>
            <a:ext cx="3232356" cy="240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Specializzazione Volo</a:t>
            </a:r>
            <a:endParaRPr lang="en-US" sz="2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386858" y="603022"/>
            <a:ext cx="7889013" cy="272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Vengono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distinti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I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tra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nazionali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internazionali, con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attributi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propri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 Il modello adotta il pattern </a:t>
            </a: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Table-per-Subclass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per garantire flessibilità e integrità referenziale.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86858" y="1035724"/>
            <a:ext cx="3561457" cy="1036935"/>
          </a:xfrm>
          <a:prstGeom prst="roundRect">
            <a:avLst>
              <a:gd name="adj" fmla="val 13811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it-IT">
              <a:solidFill>
                <a:srgbClr val="A7648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Text 3"/>
          <p:cNvSpPr/>
          <p:nvPr/>
        </p:nvSpPr>
        <p:spPr>
          <a:xfrm>
            <a:off x="868129" y="1132156"/>
            <a:ext cx="1638672" cy="108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Gerarchia di Specializzazione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4"/>
          <p:cNvSpPr/>
          <p:nvPr/>
        </p:nvSpPr>
        <p:spPr>
          <a:xfrm>
            <a:off x="586776" y="1433987"/>
            <a:ext cx="2776686" cy="1497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</a:t>
            </a:r>
            <a:r>
              <a:rPr lang="en-US" sz="11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(classe base)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5"/>
          <p:cNvSpPr/>
          <p:nvPr/>
        </p:nvSpPr>
        <p:spPr>
          <a:xfrm>
            <a:off x="868129" y="1644352"/>
            <a:ext cx="2319486" cy="34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VOLO_NAZIONALE</a:t>
            </a:r>
            <a:endParaRPr lang="en-US" sz="1100" b="1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VOLO_INTERNAZIONALE</a:t>
            </a:r>
            <a:endParaRPr lang="en-US" sz="11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6"/>
          <p:cNvSpPr/>
          <p:nvPr/>
        </p:nvSpPr>
        <p:spPr>
          <a:xfrm>
            <a:off x="4668624" y="4128190"/>
            <a:ext cx="3312937" cy="373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Specializzazione </a:t>
            </a:r>
            <a:r>
              <a:rPr lang="en-US" sz="1200" b="1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totale</a:t>
            </a:r>
            <a:r>
              <a:rPr lang="en-US" sz="12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</a:t>
            </a:r>
            <a:r>
              <a:rPr lang="en-US" sz="1200" b="1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disgiunta</a:t>
            </a:r>
            <a:r>
              <a:rPr lang="en-US" sz="12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: ogni volo appartiene esattamente a una sottoclasse.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7"/>
          <p:cNvSpPr/>
          <p:nvPr/>
        </p:nvSpPr>
        <p:spPr>
          <a:xfrm>
            <a:off x="4955819" y="1044475"/>
            <a:ext cx="2258303" cy="149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Pattern Table-per-Subclass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0" y="1342177"/>
            <a:ext cx="3896751" cy="285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Ogni sottoclasse ha una tabella dedicata con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chiave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primaria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(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id_volo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) che referencia la tabella padre. Questo approccio garantisce: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352177" y="1740434"/>
            <a:ext cx="3007514" cy="1411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Integrità referenziale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automatica tramite foreign key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000" b="1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Estensibilità</a:t>
            </a:r>
            <a:r>
              <a:rPr lang="en-US" sz="10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: nuove sottoclassi senza modificare la struttura esistente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Query efficienti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sulla classe base o sulle sottoclassi specifiche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Attributi specifici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isolati nelle tabelle figlie (es. codice paese per voli internazionali)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9" y="2071483"/>
            <a:ext cx="5465266" cy="283770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305925" y="3380371"/>
            <a:ext cx="942535" cy="28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Specializzazione Volo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7630" y="2700180"/>
            <a:ext cx="1142452" cy="1427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VOLO</a:t>
            </a:r>
            <a:endParaRPr lang="en-US" sz="8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17630" y="2886064"/>
            <a:ext cx="1181568" cy="18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1000"/>
              </a:lnSpc>
              <a:buNone/>
            </a:pPr>
            <a:r>
              <a:rPr lang="en-US" sz="7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Numero, partenza, arrivo, stato</a:t>
            </a:r>
            <a:endParaRPr lang="en-US" sz="7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142515" y="3347614"/>
            <a:ext cx="1142452" cy="1427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VOLO_NAZIONALE</a:t>
            </a:r>
            <a:endParaRPr lang="en-US" sz="8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142515" y="3533499"/>
            <a:ext cx="1181568" cy="18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1000"/>
              </a:lnSpc>
              <a:buNone/>
            </a:pPr>
            <a:r>
              <a:rPr lang="en-US" sz="7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Voli domestici, nessun attributo aggiuntivo</a:t>
            </a:r>
            <a:endParaRPr lang="en-US" sz="7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1025" y="3962677"/>
            <a:ext cx="1385667" cy="28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VOLO_INTERNAZIONALE</a:t>
            </a:r>
            <a:endParaRPr lang="en-US" sz="8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1025" y="4188594"/>
            <a:ext cx="1218905" cy="94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1000"/>
              </a:lnSpc>
              <a:buNone/>
            </a:pPr>
            <a:r>
              <a:rPr lang="en-US" sz="75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 paese, requisiti visto</a:t>
            </a:r>
            <a:endParaRPr lang="en-US" sz="7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C97F39-CB1F-7AC6-AC8A-B59A67553A2C}"/>
              </a:ext>
            </a:extLst>
          </p:cNvPr>
          <p:cNvSpPr/>
          <p:nvPr/>
        </p:nvSpPr>
        <p:spPr>
          <a:xfrm>
            <a:off x="5264439" y="3826196"/>
            <a:ext cx="2258303" cy="149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Garanzia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di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resistenza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4C981598-F4B4-73E7-9025-E29F713F561B}"/>
              </a:ext>
            </a:extLst>
          </p:cNvPr>
          <p:cNvSpPr/>
          <p:nvPr/>
        </p:nvSpPr>
        <p:spPr>
          <a:xfrm>
            <a:off x="4668624" y="4543612"/>
            <a:ext cx="3896751" cy="285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b="1" dirty="0">
                <a:latin typeface="Alef" panose="00000500000000000000" pitchFamily="2" charset="-79"/>
                <a:cs typeface="Alef" panose="00000500000000000000" pitchFamily="2" charset="-79"/>
              </a:rPr>
              <a:t>Trigger</a:t>
            </a:r>
            <a:r>
              <a:rPr lang="it-IT" sz="1000" dirty="0">
                <a:latin typeface="Alef" panose="00000500000000000000" pitchFamily="2" charset="-79"/>
                <a:cs typeface="Alef" panose="00000500000000000000" pitchFamily="2" charset="-79"/>
              </a:rPr>
              <a:t> → impongono la disgiunzione.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b="1" dirty="0">
                <a:latin typeface="Alef" panose="00000500000000000000" pitchFamily="2" charset="-79"/>
                <a:cs typeface="Alef" panose="00000500000000000000" pitchFamily="2" charset="-79"/>
              </a:rPr>
              <a:t>Transazioni atomiche (ACID)</a:t>
            </a:r>
            <a:r>
              <a:rPr lang="it-IT" sz="1000" dirty="0">
                <a:latin typeface="Alef" panose="00000500000000000000" pitchFamily="2" charset="-79"/>
                <a:cs typeface="Alef" panose="00000500000000000000" pitchFamily="2" charset="-79"/>
              </a:rPr>
              <a:t> → garantiscono la totalità.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218242"/>
            <a:ext cx="3393058" cy="3669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Vincoli del Database</a:t>
            </a:r>
            <a:endParaRPr lang="en-US" sz="23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8" y="693465"/>
            <a:ext cx="7839666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L'integrità dei dati in AeroBase è garantita da un sistema multilivello di vincoli implementati direttamente nel database MySQL. Questi vincoli operano a livello strutturale, semantico e procedurale per assicurare coerenza e affidabilità.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577" y="1194256"/>
            <a:ext cx="311869" cy="3118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577" y="1654731"/>
            <a:ext cx="1826716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Primary Key &amp; Foreign Key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3"/>
          <p:cNvSpPr/>
          <p:nvPr/>
        </p:nvSpPr>
        <p:spPr>
          <a:xfrm>
            <a:off x="523577" y="1909524"/>
            <a:ext cx="2599879" cy="779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Ogni tabella ha una chiave primaria univoca. Le foreign key garantiscono l'integrità referenziale tra le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entità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alcuni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esempi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:</a:t>
            </a:r>
          </a:p>
          <a:p>
            <a:pPr marL="171450" indent="-1714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Aereo è legato a </a:t>
            </a:r>
            <a:r>
              <a:rPr lang="it-IT" sz="1000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Compagnia_Aerea</a:t>
            </a:r>
            <a:endParaRPr lang="it-IT" sz="1000" dirty="0">
              <a:solidFill>
                <a:srgbClr val="D6E5E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171450" indent="-1714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Volo sia ad Aereo che ad Aeroporto</a:t>
            </a:r>
          </a:p>
          <a:p>
            <a:pPr marL="171450" indent="-1714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Prenotazione, invece a Passeggero e Volo</a:t>
            </a:r>
            <a:endParaRPr lang="en-US" sz="1000" dirty="0">
              <a:solidFill>
                <a:srgbClr val="D6E5E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2061" y="1194256"/>
            <a:ext cx="311869" cy="3118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72061" y="1654731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UNIQUE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5"/>
          <p:cNvSpPr/>
          <p:nvPr/>
        </p:nvSpPr>
        <p:spPr>
          <a:xfrm>
            <a:off x="3272061" y="1909524"/>
            <a:ext cx="2599879" cy="779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Prevengono duplicazioni su quegli attributi che devono essere unici, come:</a:t>
            </a:r>
          </a:p>
          <a:p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Email, Passaporto, Codice fiscale, Username, Numero volo, Codice ICAO, ID transazione esterno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20544" y="1194256"/>
            <a:ext cx="311869" cy="31186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20544" y="1654731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CHECK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020545" y="1909524"/>
            <a:ext cx="2391936" cy="1329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Vincoli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su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attribute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che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possono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assumere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valori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appartenenti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ad un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certo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intervallo di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validità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ad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esempio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:</a:t>
            </a:r>
          </a:p>
          <a:p>
            <a:pPr>
              <a:lnSpc>
                <a:spcPct val="130000"/>
              </a:lnSpc>
            </a:pPr>
            <a:r>
              <a:rPr lang="it-IT" sz="1000" dirty="0">
                <a:solidFill>
                  <a:srgbClr val="B0BDC5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Capacità aereo &gt; 0 </a:t>
            </a:r>
          </a:p>
          <a:p>
            <a:pPr>
              <a:lnSpc>
                <a:spcPct val="130000"/>
              </a:lnSpc>
            </a:pPr>
            <a:r>
              <a:rPr lang="it-IT" sz="1000" dirty="0">
                <a:solidFill>
                  <a:srgbClr val="B0BDC5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Arrivo &gt; Partenza </a:t>
            </a:r>
          </a:p>
          <a:p>
            <a:pPr>
              <a:lnSpc>
                <a:spcPct val="130000"/>
              </a:lnSpc>
            </a:pPr>
            <a:r>
              <a:rPr lang="it-IT" sz="1000" dirty="0">
                <a:solidFill>
                  <a:srgbClr val="B0BDC5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Ritardo ≥ 0 </a:t>
            </a:r>
          </a:p>
          <a:p>
            <a:pPr>
              <a:lnSpc>
                <a:spcPct val="130000"/>
              </a:lnSpc>
            </a:pPr>
            <a:r>
              <a:rPr lang="it-IT" sz="1000" dirty="0">
                <a:solidFill>
                  <a:srgbClr val="B0BDC5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Partenza ≠ Destinazione</a:t>
            </a:r>
            <a:endParaRPr lang="en-US" sz="1000" dirty="0">
              <a:solidFill>
                <a:srgbClr val="B0BDC5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6557" y="3331071"/>
            <a:ext cx="311869" cy="31186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6557" y="3776930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ENUM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506557" y="4031724"/>
            <a:ext cx="2599879" cy="779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Utilizzato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per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limitare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valori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ammessi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a un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insieme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predefinito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validato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esempi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di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attributi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ENUM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sono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: </a:t>
            </a:r>
          </a:p>
          <a:p>
            <a:pPr>
              <a:lnSpc>
                <a:spcPct val="130000"/>
              </a:lnSpc>
            </a:pPr>
            <a:r>
              <a:rPr lang="it-IT" sz="1000" dirty="0">
                <a:solidFill>
                  <a:srgbClr val="B0BDC5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Ruolo operatore Stato volo Stato bagaglio Classe prenotazione Tipo volo</a:t>
            </a:r>
            <a:endParaRPr lang="en-US" sz="1000" dirty="0">
              <a:solidFill>
                <a:srgbClr val="B0BDC5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86561" y="3338691"/>
            <a:ext cx="311869" cy="31186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986561" y="3746450"/>
            <a:ext cx="1467892" cy="183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Trigger SQL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4986561" y="4001244"/>
            <a:ext cx="2599879" cy="779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Trigger per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gestire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la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gerarchia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dei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le due </a:t>
            </a:r>
            <a:r>
              <a:rPr lang="en-US" sz="10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specializzazioni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b="1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voli</a:t>
            </a: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b="1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nazionali</a:t>
            </a: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 </a:t>
            </a:r>
            <a:r>
              <a:rPr lang="en-US" sz="1000" b="1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internazionali</a:t>
            </a:r>
            <a:r>
              <a:rPr lang="en-US" sz="10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endParaRPr lang="en-US" sz="10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22300"/>
            <a:ext cx="5707633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Trigger SQL per la Coerenza dei Dati</a:t>
            </a:r>
            <a:endParaRPr lang="en-US" sz="2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7" y="1036290"/>
            <a:ext cx="7902971" cy="392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Per garantire la </a:t>
            </a:r>
            <a:r>
              <a:rPr lang="en-US" sz="1100" b="1" dirty="0">
                <a:solidFill>
                  <a:srgbClr val="F98AC7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disgiunzione tra voli nazionali e internazionali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sono stati implementati trigger SQL che intercettano le violazioni a livello di database.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831" y="1557710"/>
            <a:ext cx="7272263" cy="26325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9702" y="3554357"/>
            <a:ext cx="1714474" cy="21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Rollback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3"/>
          <p:cNvSpPr/>
          <p:nvPr/>
        </p:nvSpPr>
        <p:spPr>
          <a:xfrm>
            <a:off x="1469702" y="2760881"/>
            <a:ext cx="1714474" cy="21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SQLSTATE '45000'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4"/>
          <p:cNvSpPr/>
          <p:nvPr/>
        </p:nvSpPr>
        <p:spPr>
          <a:xfrm>
            <a:off x="1469702" y="1959309"/>
            <a:ext cx="1714474" cy="21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BEFORE INSERT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5"/>
          <p:cNvSpPr/>
          <p:nvPr/>
        </p:nvSpPr>
        <p:spPr>
          <a:xfrm>
            <a:off x="523577" y="4319067"/>
            <a:ext cx="7902971" cy="4021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 trigger vengono eseguiti </a:t>
            </a:r>
            <a:r>
              <a:rPr lang="en-US" sz="1100" b="1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prima dell'inserimento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e sollevano un'eccezione controllata tramite </a:t>
            </a:r>
            <a:r>
              <a:rPr lang="en-US" sz="1100" dirty="0">
                <a:solidFill>
                  <a:srgbClr val="D6E5EF"/>
                </a:solidFill>
                <a:highlight>
                  <a:srgbClr val="323540"/>
                </a:highlight>
                <a:latin typeface="Alef" panose="00000500000000000000" pitchFamily="2" charset="-79"/>
                <a:ea typeface="Consolas" pitchFamily="34" charset="-122"/>
                <a:cs typeface="Alef" panose="00000500000000000000" pitchFamily="2" charset="-79"/>
              </a:rPr>
              <a:t>SIGNAL SQLSTATE '45000'</a:t>
            </a:r>
            <a:r>
              <a:rPr lang="en-US" sz="11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impedendo l'inserimento di dati incoerenti a livello di specializzazione.</a:t>
            </a:r>
            <a:endParaRPr lang="en-US" sz="11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BEC7D10-5756-419C-B0DD-2C5C7F863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465320" cy="513269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E308FC30-8073-BAF6-4D22-9BE32E6368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48" b="8641"/>
          <a:stretch>
            <a:fillRect/>
          </a:stretch>
        </p:blipFill>
        <p:spPr>
          <a:xfrm>
            <a:off x="4475907" y="1905000"/>
            <a:ext cx="4668093" cy="1798320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27F75FC7-659C-5B15-E3A5-E90FA26C8A94}"/>
              </a:ext>
            </a:extLst>
          </p:cNvPr>
          <p:cNvSpPr/>
          <p:nvPr/>
        </p:nvSpPr>
        <p:spPr>
          <a:xfrm>
            <a:off x="4771198" y="402335"/>
            <a:ext cx="3300540" cy="1189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it-IT" sz="1000" b="1" dirty="0" err="1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trg_vn_before_insert</a:t>
            </a:r>
            <a:endParaRPr lang="it-IT" sz="1000" b="1" dirty="0">
              <a:solidFill>
                <a:srgbClr val="E3E3E3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Consente solo voli con </a:t>
            </a:r>
            <a:r>
              <a:rPr lang="it-IT" sz="1000" dirty="0" err="1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tipo_volo</a:t>
            </a:r>
            <a:r>
              <a:rPr lang="it-IT" sz="100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= nazionale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Impedisce la doppia appartenenza </a:t>
            </a:r>
          </a:p>
          <a:p>
            <a:pPr>
              <a:lnSpc>
                <a:spcPct val="150000"/>
              </a:lnSpc>
            </a:pPr>
            <a:r>
              <a:rPr lang="it-IT" sz="1000" b="1" dirty="0" err="1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trg_vi_before_insert</a:t>
            </a:r>
            <a:endParaRPr lang="it-IT" sz="1000" dirty="0">
              <a:solidFill>
                <a:srgbClr val="E3E3E3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Consente solo voli con </a:t>
            </a:r>
            <a:r>
              <a:rPr lang="it-IT" sz="1000" dirty="0" err="1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tipo_volo</a:t>
            </a:r>
            <a:r>
              <a:rPr lang="it-IT" sz="100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= internazionale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Impedisce la doppia appartenenza</a:t>
            </a: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CD76743-90F3-ECA6-64F5-19C63F8651C9}"/>
              </a:ext>
            </a:extLst>
          </p:cNvPr>
          <p:cNvSpPr/>
          <p:nvPr/>
        </p:nvSpPr>
        <p:spPr>
          <a:xfrm>
            <a:off x="4628674" y="4203728"/>
            <a:ext cx="3750943" cy="928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05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L'applicazione inserisce i dati attraverso le transazioni, che assicurano l'atomicità delle operazioni: tutte le operazioni vengono completate correttamente oppure, in caso di errore, nessuna modifica viene salvata. </a:t>
            </a:r>
          </a:p>
          <a:p>
            <a:r>
              <a:rPr lang="it-IT" sz="1050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In questo modo viene mantenuto anche il </a:t>
            </a:r>
            <a:r>
              <a:rPr lang="it-IT" sz="1050" b="1" dirty="0">
                <a:solidFill>
                  <a:srgbClr val="E3E3E3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vincolo di totalità.</a:t>
            </a: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7365150C-DF06-82EF-7544-11719467F385}"/>
              </a:ext>
            </a:extLst>
          </p:cNvPr>
          <p:cNvSpPr/>
          <p:nvPr/>
        </p:nvSpPr>
        <p:spPr>
          <a:xfrm>
            <a:off x="4572000" y="71807"/>
            <a:ext cx="3393058" cy="3669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Controllo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dei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vincoli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con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i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trigger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54B0DDA9-C1B6-45D6-B38E-19EB61181CF1}"/>
              </a:ext>
            </a:extLst>
          </p:cNvPr>
          <p:cNvSpPr/>
          <p:nvPr/>
        </p:nvSpPr>
        <p:spPr>
          <a:xfrm>
            <a:off x="4693316" y="3811876"/>
            <a:ext cx="3686301" cy="3669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transazione</a:t>
            </a: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degli </a:t>
            </a:r>
            <a:r>
              <a:rPr lang="en-US" sz="1600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inserimenti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639722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08203"/>
            <a:ext cx="3977506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Politiche ON DELETE</a:t>
            </a:r>
            <a:endParaRPr lang="en-US" sz="27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523577" y="1150500"/>
            <a:ext cx="7808383" cy="448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Le politiche di cancellazione sono state scelte in base 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al ruolo semantico di ogni entità nel dominio aeroportuale.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23577" y="1801654"/>
            <a:ext cx="7808383" cy="3120866"/>
          </a:xfrm>
          <a:prstGeom prst="roundRect">
            <a:avLst>
              <a:gd name="adj" fmla="val 14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35188" y="1801654"/>
            <a:ext cx="2602771" cy="3120865"/>
          </a:xfrm>
          <a:prstGeom prst="rect">
            <a:avLst/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4"/>
          <p:cNvSpPr/>
          <p:nvPr/>
        </p:nvSpPr>
        <p:spPr>
          <a:xfrm>
            <a:off x="384761" y="2031489"/>
            <a:ext cx="169740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CASCADE</a:t>
            </a:r>
            <a:endParaRPr lang="en-US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5"/>
          <p:cNvSpPr/>
          <p:nvPr/>
        </p:nvSpPr>
        <p:spPr>
          <a:xfrm>
            <a:off x="384761" y="2361977"/>
            <a:ext cx="2314283" cy="2469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Eliminazione automatica dei record dipendenti. Ideale per relazioni di </a:t>
            </a:r>
            <a:r>
              <a:rPr lang="en-US" sz="14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composizione</a:t>
            </a: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forte.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Esempi:</a:t>
            </a:r>
          </a:p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it-IT" sz="1200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Compagnia_Aerea</a:t>
            </a: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→ Aereo </a:t>
            </a:r>
          </a:p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Volo → Specializzazioni </a:t>
            </a:r>
          </a:p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Passeggero → Prenotazioni </a:t>
            </a:r>
          </a:p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Prenotazione → Bagagli, Transazioni</a:t>
            </a:r>
          </a:p>
          <a:p>
            <a:pPr marL="0" indent="0" algn="l">
              <a:lnSpc>
                <a:spcPct val="133000"/>
              </a:lnSpc>
              <a:buNone/>
            </a:pPr>
            <a:endParaRPr lang="en-US" sz="600" dirty="0">
              <a:solidFill>
                <a:srgbClr val="D6E5E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934112" y="2361977"/>
            <a:ext cx="2602771" cy="1566416"/>
          </a:xfrm>
          <a:prstGeom prst="rect">
            <a:avLst/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821571" y="2544857"/>
            <a:ext cx="19050" cy="1566416"/>
          </a:xfrm>
          <a:prstGeom prst="roundRect">
            <a:avLst>
              <a:gd name="adj" fmla="val 117806"/>
            </a:avLst>
          </a:prstGeom>
          <a:solidFill>
            <a:srgbClr val="5D606B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132922" y="2031489"/>
            <a:ext cx="169740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SET NULL</a:t>
            </a:r>
            <a:endParaRPr lang="en-US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132922" y="2361977"/>
            <a:ext cx="2314283" cy="24691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Conservazione dello storico operativo. I record rimangono tracciabili anche dopo la rimozione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dell'entità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correlate,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preservando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lo storico.</a:t>
            </a: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Esempi: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Operatore → Bagaglio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Gate → Volo</a:t>
            </a:r>
          </a:p>
          <a:p>
            <a:pPr marL="0" indent="0" algn="l">
              <a:lnSpc>
                <a:spcPct val="133000"/>
              </a:lnSpc>
              <a:buNone/>
            </a:pPr>
            <a:endParaRPr lang="en-US" sz="11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6784" y="2361977"/>
            <a:ext cx="2699024" cy="1566416"/>
          </a:xfrm>
          <a:prstGeom prst="rect">
            <a:avLst/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562698" y="2544857"/>
            <a:ext cx="19050" cy="1566416"/>
          </a:xfrm>
          <a:prstGeom prst="roundRect">
            <a:avLst>
              <a:gd name="adj" fmla="val 117806"/>
            </a:avLst>
          </a:prstGeom>
          <a:solidFill>
            <a:srgbClr val="5D606B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965491" y="2031489"/>
            <a:ext cx="169740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RESTRICT</a:t>
            </a:r>
            <a:endParaRPr lang="en-US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965491" y="2355260"/>
            <a:ext cx="2314283" cy="2595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Protezione delle entità strutturali. Impedisce la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cancellazione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,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bloccando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eliminazioni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non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sicure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Esempi: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Aeroporto con Gate associati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Aeroporto con Operatori assegnati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Aeroporto utilizzato da un Volo</a:t>
            </a:r>
            <a:endParaRPr lang="en-US" sz="1100" dirty="0">
              <a:solidFill>
                <a:srgbClr val="D6E5EF"/>
              </a:solidFill>
              <a:latin typeface="Alef" panose="00000500000000000000" pitchFamily="2" charset="-79"/>
              <a:ea typeface="Source Sans 3" pitchFamily="34" charset="-122"/>
              <a:cs typeface="Alef" panose="00000500000000000000" pitchFamily="2" charset="-79"/>
            </a:endParaRPr>
          </a:p>
          <a:p>
            <a:pPr marL="0" indent="0" algn="l">
              <a:lnSpc>
                <a:spcPct val="133000"/>
              </a:lnSpc>
              <a:buNone/>
            </a:pPr>
            <a:endParaRPr lang="en-US" sz="11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A666B-83A0-D788-E2C2-82C74B0EA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50FB31E-2B7C-6928-0359-6488C0C89211}"/>
              </a:ext>
            </a:extLst>
          </p:cNvPr>
          <p:cNvSpPr/>
          <p:nvPr/>
        </p:nvSpPr>
        <p:spPr>
          <a:xfrm>
            <a:off x="523577" y="310083"/>
            <a:ext cx="3977506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it-IT" sz="2800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Vincoli Applicativi e Logica di Business</a:t>
            </a:r>
            <a:endParaRPr lang="en-US" sz="2750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CCACCD-1F4A-733F-8682-4D58228F97C9}"/>
              </a:ext>
            </a:extLst>
          </p:cNvPr>
          <p:cNvSpPr/>
          <p:nvPr/>
        </p:nvSpPr>
        <p:spPr>
          <a:xfrm>
            <a:off x="523577" y="845700"/>
            <a:ext cx="7808383" cy="73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Non tutti i vincoli possono essere espressi tramite </a:t>
            </a:r>
            <a:r>
              <a:rPr lang="it-IT" sz="12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FK, CHECK o Trigger</a:t>
            </a: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. </a:t>
            </a:r>
          </a:p>
          <a:p>
            <a:pPr>
              <a:lnSpc>
                <a:spcPct val="133000"/>
              </a:lnSpc>
            </a:pP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Le regole dinamiche e dipendenti dal contesto vengono gestite dal </a:t>
            </a:r>
            <a:r>
              <a:rPr lang="it-IT" sz="1200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backend</a:t>
            </a:r>
            <a:r>
              <a:rPr lang="it-IT" sz="12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Django</a:t>
            </a: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  <a:endParaRPr lang="en-US" sz="1200" dirty="0">
              <a:solidFill>
                <a:srgbClr val="D6E5E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C99107B4-DFBD-A03E-BF2E-A39E55C5300F}"/>
              </a:ext>
            </a:extLst>
          </p:cNvPr>
          <p:cNvSpPr/>
          <p:nvPr/>
        </p:nvSpPr>
        <p:spPr>
          <a:xfrm>
            <a:off x="450262" y="1463040"/>
            <a:ext cx="3977506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it-IT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Principali controlli Applicativi</a:t>
            </a:r>
            <a:endParaRPr lang="en-US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32B3960A-1E69-DCB9-F435-A5193B2C5840}"/>
              </a:ext>
            </a:extLst>
          </p:cNvPr>
          <p:cNvSpPr/>
          <p:nvPr/>
        </p:nvSpPr>
        <p:spPr>
          <a:xfrm>
            <a:off x="450262" y="1964010"/>
            <a:ext cx="2818718" cy="1393493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20777E20-6A8C-B0AF-9B6A-27E024458EB2}"/>
              </a:ext>
            </a:extLst>
          </p:cNvPr>
          <p:cNvSpPr/>
          <p:nvPr/>
        </p:nvSpPr>
        <p:spPr>
          <a:xfrm>
            <a:off x="749023" y="2057697"/>
            <a:ext cx="1595065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 err="1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Gestione</a:t>
            </a: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Posti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D5FE917-499E-3190-204D-6BB90F7C59B5}"/>
              </a:ext>
            </a:extLst>
          </p:cNvPr>
          <p:cNvSpPr/>
          <p:nvPr/>
        </p:nvSpPr>
        <p:spPr>
          <a:xfrm>
            <a:off x="3459480" y="1964010"/>
            <a:ext cx="2716292" cy="1393493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E449E418-2E63-9F67-0915-36FB321450D4}"/>
              </a:ext>
            </a:extLst>
          </p:cNvPr>
          <p:cNvSpPr/>
          <p:nvPr/>
        </p:nvSpPr>
        <p:spPr>
          <a:xfrm>
            <a:off x="3791916" y="2057697"/>
            <a:ext cx="1530638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Workflow </a:t>
            </a:r>
            <a:r>
              <a:rPr lang="en-US" sz="1400" b="1" dirty="0" err="1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Bagagli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BD3C08A3-8D3A-2992-0019-8015B491936A}"/>
              </a:ext>
            </a:extLst>
          </p:cNvPr>
          <p:cNvSpPr/>
          <p:nvPr/>
        </p:nvSpPr>
        <p:spPr>
          <a:xfrm>
            <a:off x="450262" y="3452827"/>
            <a:ext cx="2818718" cy="1393493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63F7988-D623-BA6F-6E9F-8E3C08E8FEC8}"/>
              </a:ext>
            </a:extLst>
          </p:cNvPr>
          <p:cNvSpPr/>
          <p:nvPr/>
        </p:nvSpPr>
        <p:spPr>
          <a:xfrm>
            <a:off x="749023" y="3546514"/>
            <a:ext cx="1652960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Flusso</a:t>
            </a: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</a:t>
            </a:r>
            <a:r>
              <a:rPr lang="en-US" sz="1400" b="1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Pagamenti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738D6C3C-244E-7967-94E7-F41FE4AD97C4}"/>
              </a:ext>
            </a:extLst>
          </p:cNvPr>
          <p:cNvSpPr/>
          <p:nvPr/>
        </p:nvSpPr>
        <p:spPr>
          <a:xfrm>
            <a:off x="3451401" y="3452827"/>
            <a:ext cx="2716292" cy="1393493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D13EA6AF-ECF3-718E-4DB5-586BA084C50E}"/>
              </a:ext>
            </a:extLst>
          </p:cNvPr>
          <p:cNvSpPr/>
          <p:nvPr/>
        </p:nvSpPr>
        <p:spPr>
          <a:xfrm>
            <a:off x="3791918" y="3546514"/>
            <a:ext cx="1595065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 err="1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Validazione</a:t>
            </a:r>
            <a:r>
              <a:rPr lang="en-US" sz="1400" b="1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Gate</a:t>
            </a:r>
            <a:endParaRPr lang="en-US" sz="14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2F9C098D-FA7A-D2CB-013C-E8F0039A812C}"/>
              </a:ext>
            </a:extLst>
          </p:cNvPr>
          <p:cNvSpPr/>
          <p:nvPr/>
        </p:nvSpPr>
        <p:spPr>
          <a:xfrm>
            <a:off x="627102" y="2312492"/>
            <a:ext cx="1693079" cy="705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Verifica disponibilità del posto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Nessuna doppia assegnazione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Compatibilità con la classe selezionata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A2E1849C-FC6F-1BBE-F2CA-689B5E5265C5}"/>
              </a:ext>
            </a:extLst>
          </p:cNvPr>
          <p:cNvSpPr txBox="1"/>
          <p:nvPr/>
        </p:nvSpPr>
        <p:spPr>
          <a:xfrm>
            <a:off x="491520" y="3745944"/>
            <a:ext cx="2818718" cy="10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Creazione della transazione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Aggiornamento dello stato della prenotazione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Operazioni eseguite in modo consistente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53FDCD66-C832-3D05-672C-31BDF4A81F3B}"/>
              </a:ext>
            </a:extLst>
          </p:cNvPr>
          <p:cNvSpPr txBox="1"/>
          <p:nvPr/>
        </p:nvSpPr>
        <p:spPr>
          <a:xfrm>
            <a:off x="3606428" y="2277414"/>
            <a:ext cx="2665678" cy="799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Gestione degli stati del bagaglio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Registrazione operatore responsabile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Tracciamento delle modifiche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D4650306-38DD-C0C8-FA29-255D4389BDC3}"/>
              </a:ext>
            </a:extLst>
          </p:cNvPr>
          <p:cNvSpPr txBox="1"/>
          <p:nvPr/>
        </p:nvSpPr>
        <p:spPr>
          <a:xfrm>
            <a:off x="3534413" y="3752119"/>
            <a:ext cx="2665678" cy="10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Compatibilità tra gate e tipologia di volo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50" dirty="0">
                <a:latin typeface="Alef" panose="00000500000000000000" pitchFamily="2" charset="-79"/>
                <a:cs typeface="Alef" panose="00000500000000000000" pitchFamily="2" charset="-79"/>
              </a:rPr>
              <a:t>Prevenzione di assegnazioni non ammissibili</a:t>
            </a:r>
            <a:endParaRPr lang="en-US" sz="10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2B60F364-A369-5176-F56A-32268F8C853E}"/>
              </a:ext>
            </a:extLst>
          </p:cNvPr>
          <p:cNvSpPr/>
          <p:nvPr/>
        </p:nvSpPr>
        <p:spPr>
          <a:xfrm>
            <a:off x="6366272" y="1587304"/>
            <a:ext cx="2028705" cy="3037426"/>
          </a:xfrm>
          <a:prstGeom prst="roundRect">
            <a:avLst>
              <a:gd name="adj" fmla="val 2033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2B39737D-A176-4D49-0120-38368F7CB684}"/>
              </a:ext>
            </a:extLst>
          </p:cNvPr>
          <p:cNvSpPr/>
          <p:nvPr/>
        </p:nvSpPr>
        <p:spPr>
          <a:xfrm>
            <a:off x="6498318" y="1769706"/>
            <a:ext cx="1708422" cy="481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Architettura</a:t>
            </a:r>
            <a:r>
              <a:rPr lang="en-US" b="1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en-US" b="1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Django</a:t>
            </a:r>
            <a:endParaRPr lang="en-US" b="1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913BB2EB-03D4-2541-63A5-94B5F9DB1080}"/>
              </a:ext>
            </a:extLst>
          </p:cNvPr>
          <p:cNvSpPr txBox="1"/>
          <p:nvPr/>
        </p:nvSpPr>
        <p:spPr>
          <a:xfrm>
            <a:off x="6498318" y="2418367"/>
            <a:ext cx="1764613" cy="2008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Model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→ accesso ai dati MySQL</a:t>
            </a:r>
          </a:p>
          <a:p>
            <a:pPr>
              <a:lnSpc>
                <a:spcPct val="150000"/>
              </a:lnSpc>
            </a:pP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View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→ logica di business e controlli di sicurezza</a:t>
            </a:r>
          </a:p>
          <a:p>
            <a:pPr>
              <a:lnSpc>
                <a:spcPct val="150000"/>
              </a:lnSpc>
            </a:pPr>
            <a:r>
              <a:rPr lang="it-IT" sz="1200" b="1" dirty="0">
                <a:latin typeface="Alef" panose="00000500000000000000" pitchFamily="2" charset="-79"/>
                <a:cs typeface="Alef" panose="00000500000000000000" pitchFamily="2" charset="-79"/>
              </a:rPr>
              <a:t>Template</a:t>
            </a:r>
            <a:r>
              <a:rPr lang="it-IT" sz="1200" dirty="0">
                <a:latin typeface="Alef" panose="00000500000000000000" pitchFamily="2" charset="-79"/>
                <a:cs typeface="Alef" panose="00000500000000000000" pitchFamily="2" charset="-79"/>
              </a:rPr>
              <a:t> → interfaccia utente</a:t>
            </a:r>
          </a:p>
        </p:txBody>
      </p:sp>
    </p:spTree>
    <p:extLst>
      <p:ext uri="{BB962C8B-B14F-4D97-AF65-F5344CB8AC3E}">
        <p14:creationId xmlns:p14="http://schemas.microsoft.com/office/powerpoint/2010/main" val="4096547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magine 22">
            <a:extLst>
              <a:ext uri="{FF2B5EF4-FFF2-40B4-BE49-F238E27FC236}">
                <a16:creationId xmlns:a16="http://schemas.microsoft.com/office/drawing/2014/main" id="{8C13066F-29A7-C999-4228-1D1D5ED93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087" y="0"/>
            <a:ext cx="5444933" cy="2611375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5" name="Shape 2"/>
          <p:cNvSpPr/>
          <p:nvPr/>
        </p:nvSpPr>
        <p:spPr>
          <a:xfrm>
            <a:off x="190501" y="467937"/>
            <a:ext cx="1806103" cy="331829"/>
          </a:xfrm>
          <a:prstGeom prst="roundRect">
            <a:avLst>
              <a:gd name="adj" fmla="val 6386"/>
            </a:avLst>
          </a:prstGeom>
          <a:solidFill>
            <a:srgbClr val="49042A"/>
          </a:solidFill>
          <a:ln/>
        </p:spPr>
        <p:txBody>
          <a:bodyPr/>
          <a:lstStyle/>
          <a:p>
            <a:pPr algn="r"/>
            <a:endParaRPr lang="it-IT" sz="200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1" y="528991"/>
            <a:ext cx="1806104" cy="225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33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ISOLAMENTO &amp; SICUREZZA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4"/>
          <p:cNvSpPr/>
          <p:nvPr/>
        </p:nvSpPr>
        <p:spPr>
          <a:xfrm>
            <a:off x="2255544" y="467937"/>
            <a:ext cx="4387000" cy="706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Multi-Tenant e RBAC</a:t>
            </a:r>
            <a:endParaRPr lang="en-US" sz="3200" b="1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5"/>
          <p:cNvSpPr/>
          <p:nvPr/>
        </p:nvSpPr>
        <p:spPr>
          <a:xfrm>
            <a:off x="276441" y="993383"/>
            <a:ext cx="4387000" cy="233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Ogni operatore interagisce esclusivamente con i dati del proprio aeroporto. L'isolamento logico è garantito tramite filtraggio sul </a:t>
            </a:r>
            <a:r>
              <a:rPr lang="en-US" sz="1600" b="1" dirty="0">
                <a:solidFill>
                  <a:srgbClr val="F98AC7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codice IATA</a:t>
            </a:r>
            <a:r>
              <a:rPr lang="en-US" sz="16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</a:p>
          <a:p>
            <a:pPr>
              <a:lnSpc>
                <a:spcPct val="133000"/>
              </a:lnSpc>
            </a:pPr>
            <a:r>
              <a:rPr lang="en-US" sz="1600" b="1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Operatore</a:t>
            </a:r>
            <a:r>
              <a:rPr lang="en-US" sz="16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→ </a:t>
            </a:r>
            <a:r>
              <a:rPr lang="en-US" sz="1600" b="1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codice_aeroporto</a:t>
            </a:r>
            <a:r>
              <a:rPr lang="en-US" sz="16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 (FK)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10" y="2723781"/>
            <a:ext cx="224358" cy="2243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1278" y="2725976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Isolamento logico</a:t>
            </a:r>
            <a:endParaRPr lang="en-US" sz="1400" b="1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7"/>
          <p:cNvSpPr/>
          <p:nvPr/>
        </p:nvSpPr>
        <p:spPr>
          <a:xfrm>
            <a:off x="283090" y="2977828"/>
            <a:ext cx="2505830" cy="1972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 dati di ogni aeroporto sono separati a </a:t>
            </a:r>
            <a:r>
              <a:rPr lang="en-US" sz="12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livello</a:t>
            </a: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2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applicativo</a:t>
            </a: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Ogni operatore è associato a un aeroporto tramite </a:t>
            </a:r>
            <a:r>
              <a:rPr lang="it-IT" sz="1000" b="1" dirty="0" err="1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codice_aeroporto</a:t>
            </a:r>
            <a:r>
              <a:rPr lang="it-IT" sz="10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I dati sono segregati </a:t>
            </a:r>
            <a:r>
              <a:rPr lang="it-IT" sz="10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per scalo.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Gli utenti possono </a:t>
            </a:r>
            <a:r>
              <a:rPr lang="it-IT" sz="1000" b="1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operare esclusivamente </a:t>
            </a:r>
            <a:r>
              <a:rPr lang="it-IT" sz="1000" dirty="0">
                <a:solidFill>
                  <a:srgbClr val="D6E5EF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sul proprio contesto aeroportuale.</a:t>
            </a:r>
            <a:endParaRPr lang="en-US" sz="1000" dirty="0">
              <a:solidFill>
                <a:srgbClr val="D6E5EF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4584" y="2723781"/>
            <a:ext cx="224358" cy="2243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93521" y="2725976"/>
            <a:ext cx="189882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Controllo accessi RBAC</a:t>
            </a:r>
            <a:endParaRPr lang="en-US" sz="1400" b="1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9"/>
          <p:cNvSpPr/>
          <p:nvPr/>
        </p:nvSpPr>
        <p:spPr>
          <a:xfrm>
            <a:off x="3131821" y="2977828"/>
            <a:ext cx="2349834" cy="2005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Ruoli distinti per operatore voli e </a:t>
            </a:r>
            <a:r>
              <a:rPr lang="en-US" sz="12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operatore</a:t>
            </a: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2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bagagli</a:t>
            </a: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b="1" dirty="0">
                <a:latin typeface="Alef" panose="00000500000000000000" pitchFamily="2" charset="-79"/>
                <a:cs typeface="Alef" panose="00000500000000000000" pitchFamily="2" charset="-79"/>
              </a:rPr>
              <a:t>Passeggero</a:t>
            </a:r>
            <a:r>
              <a:rPr lang="it-IT" sz="1000" dirty="0">
                <a:latin typeface="Alef" panose="00000500000000000000" pitchFamily="2" charset="-79"/>
                <a:cs typeface="Alef" panose="00000500000000000000" pitchFamily="2" charset="-79"/>
              </a:rPr>
              <a:t> → prenotazioni, pagamenti e bagagli personali.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b="1" dirty="0">
                <a:latin typeface="Alef" panose="00000500000000000000" pitchFamily="2" charset="-79"/>
                <a:cs typeface="Alef" panose="00000500000000000000" pitchFamily="2" charset="-79"/>
              </a:rPr>
              <a:t>Operatore Voli</a:t>
            </a:r>
            <a:r>
              <a:rPr lang="it-IT" sz="1000" dirty="0">
                <a:latin typeface="Alef" panose="00000500000000000000" pitchFamily="2" charset="-79"/>
                <a:cs typeface="Alef" panose="00000500000000000000" pitchFamily="2" charset="-79"/>
              </a:rPr>
              <a:t> → gestione dei voli.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b="1" dirty="0">
                <a:latin typeface="Alef" panose="00000500000000000000" pitchFamily="2" charset="-79"/>
                <a:cs typeface="Alef" panose="00000500000000000000" pitchFamily="2" charset="-79"/>
              </a:rPr>
              <a:t>Operatore Bagagli</a:t>
            </a:r>
            <a:r>
              <a:rPr lang="it-IT" sz="1000" dirty="0">
                <a:latin typeface="Alef" panose="00000500000000000000" pitchFamily="2" charset="-79"/>
                <a:cs typeface="Alef" panose="00000500000000000000" pitchFamily="2" charset="-79"/>
              </a:rPr>
              <a:t> → tracciamento e aggiornamento bagagli.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000" b="1" dirty="0">
                <a:latin typeface="Alef" panose="00000500000000000000" pitchFamily="2" charset="-79"/>
                <a:cs typeface="Alef" panose="00000500000000000000" pitchFamily="2" charset="-79"/>
              </a:rPr>
              <a:t>Admin</a:t>
            </a:r>
            <a:r>
              <a:rPr lang="it-IT" sz="1000" dirty="0">
                <a:latin typeface="Alef" panose="00000500000000000000" pitchFamily="2" charset="-79"/>
                <a:cs typeface="Alef" panose="00000500000000000000" pitchFamily="2" charset="-79"/>
              </a:rPr>
              <a:t> → gestione utenti e operazioni dello scalo.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37306" y="2723781"/>
            <a:ext cx="224358" cy="22435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246244" y="2725976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Filtro IATA</a:t>
            </a:r>
            <a:endParaRPr lang="en-US" sz="1400" b="1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5882112" y="2977828"/>
            <a:ext cx="2416068" cy="2165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Query filtrate automaticamente sul codice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aeroporto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</a:t>
            </a:r>
            <a:r>
              <a:rPr lang="en-US" sz="1300" dirty="0" err="1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assegnato</a:t>
            </a:r>
            <a:r>
              <a:rPr lang="en-US" sz="13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Applicazione automatica di filtri basati sul codice IATA dell'operatore.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Esempio: </a:t>
            </a:r>
            <a:r>
              <a:rPr lang="it-IT" sz="1100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.filter(partenza=</a:t>
            </a:r>
            <a:r>
              <a:rPr lang="it-IT" sz="1100" dirty="0" err="1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operatore.codice_aeroporto</a:t>
            </a:r>
            <a:r>
              <a:rPr lang="it-IT" sz="1100" dirty="0">
                <a:solidFill>
                  <a:srgbClr val="F98AC7"/>
                </a:solidFill>
                <a:latin typeface="Alef" panose="00000500000000000000" pitchFamily="2" charset="-79"/>
                <a:cs typeface="Alef" panose="00000500000000000000" pitchFamily="2" charset="-79"/>
              </a:rPr>
              <a:t>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100" dirty="0">
                <a:latin typeface="Alef" panose="00000500000000000000" pitchFamily="2" charset="-79"/>
                <a:cs typeface="Alef" panose="00000500000000000000" pitchFamily="2" charset="-79"/>
              </a:rPr>
              <a:t>Un operatore FCO visualizza e modifica solo i dati relativi a FCO. </a:t>
            </a:r>
          </a:p>
          <a:p>
            <a:pPr marL="0" indent="0" algn="l">
              <a:lnSpc>
                <a:spcPct val="133000"/>
              </a:lnSpc>
              <a:buNone/>
            </a:pPr>
            <a:endParaRPr lang="en-US" sz="11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9C489C03-9705-BE0C-5388-83344F3CB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5898" y="131236"/>
            <a:ext cx="2963343" cy="1410177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D795792D-956A-00C5-AD70-CFC8C4518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3162" y="416922"/>
            <a:ext cx="2962574" cy="1414740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2484CB3-7AAB-BA28-E483-C31B74F81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7181" y="1655692"/>
            <a:ext cx="2945999" cy="1387218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B817DA70-585E-3506-1847-11B717B99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3630" y="2074287"/>
            <a:ext cx="2952106" cy="1380269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EF42061-859B-62C4-AFB7-E0550C3F4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6729" y="3107114"/>
            <a:ext cx="2952107" cy="1390094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>
            <a:extLst>
              <a:ext uri="{FF2B5EF4-FFF2-40B4-BE49-F238E27FC236}">
                <a16:creationId xmlns:a16="http://schemas.microsoft.com/office/drawing/2014/main" id="{F1805025-6D5B-831C-3E9A-DE5F90A3E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3164" y="3580775"/>
            <a:ext cx="2962572" cy="1390092"/>
          </a:xfrm>
          <a:prstGeom prst="rect">
            <a:avLst/>
          </a:prstGeom>
          <a:noFill/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620427" y="163542"/>
            <a:ext cx="2502322" cy="254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Workflow Passeggero</a:t>
            </a:r>
            <a:endParaRPr lang="en-US" sz="2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Text 1"/>
          <p:cNvSpPr/>
          <p:nvPr/>
        </p:nvSpPr>
        <p:spPr>
          <a:xfrm>
            <a:off x="206947" y="577078"/>
            <a:ext cx="4043998" cy="518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flusso di prenotazione guida l'utente attraverso un processo strutturato,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con verifiche automatiche di documenti e requisiti del </a:t>
            </a:r>
            <a:r>
              <a:rPr lang="en-US" sz="1000" dirty="0" err="1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volo</a:t>
            </a:r>
            <a:r>
              <a:rPr lang="en-US" sz="1000" dirty="0"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.</a:t>
            </a:r>
            <a:endParaRPr lang="en-US" sz="10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4804" y="972517"/>
            <a:ext cx="345951" cy="518964"/>
          </a:xfrm>
          <a:prstGeom prst="roundRect">
            <a:avLst>
              <a:gd name="adj" fmla="val 36003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928" y="1150888"/>
            <a:ext cx="129704" cy="162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1</a:t>
            </a:r>
            <a:endParaRPr lang="en-US" sz="1200" b="1" dirty="0">
              <a:solidFill>
                <a:schemeClr val="bg1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4"/>
          <p:cNvSpPr/>
          <p:nvPr/>
        </p:nvSpPr>
        <p:spPr>
          <a:xfrm>
            <a:off x="1516865" y="1705157"/>
            <a:ext cx="1017538" cy="127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Ricerca Volo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54804" y="1541413"/>
            <a:ext cx="345951" cy="518964"/>
          </a:xfrm>
          <a:prstGeom prst="roundRect">
            <a:avLst>
              <a:gd name="adj" fmla="val 36003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62928" y="1719783"/>
            <a:ext cx="129704" cy="162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2</a:t>
            </a:r>
            <a:endParaRPr lang="en-US" sz="1200" b="1" dirty="0">
              <a:solidFill>
                <a:schemeClr val="bg1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16865" y="1155639"/>
            <a:ext cx="1025203" cy="127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Login o Registrazione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054804" y="2110308"/>
            <a:ext cx="345951" cy="518964"/>
          </a:xfrm>
          <a:prstGeom prst="roundRect">
            <a:avLst>
              <a:gd name="adj" fmla="val 36003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62928" y="2288679"/>
            <a:ext cx="129704" cy="162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3</a:t>
            </a:r>
            <a:endParaRPr lang="en-US" sz="1200" b="1" dirty="0">
              <a:solidFill>
                <a:schemeClr val="bg1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16865" y="2267118"/>
            <a:ext cx="1017538" cy="127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Selezione Posto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054804" y="2679204"/>
            <a:ext cx="345951" cy="518964"/>
          </a:xfrm>
          <a:prstGeom prst="roundRect">
            <a:avLst>
              <a:gd name="adj" fmla="val 36003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62928" y="2857574"/>
            <a:ext cx="129704" cy="162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4</a:t>
            </a:r>
            <a:endParaRPr lang="en-US" sz="1200" b="1" dirty="0">
              <a:solidFill>
                <a:schemeClr val="bg1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16865" y="2836013"/>
            <a:ext cx="1019547" cy="127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Dichiarazione Bagagli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54804" y="3248099"/>
            <a:ext cx="345951" cy="518964"/>
          </a:xfrm>
          <a:prstGeom prst="roundRect">
            <a:avLst>
              <a:gd name="adj" fmla="val 36003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62928" y="3426470"/>
            <a:ext cx="129704" cy="162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5</a:t>
            </a:r>
            <a:endParaRPr lang="en-US" sz="1200" b="1" dirty="0">
              <a:solidFill>
                <a:schemeClr val="bg1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516865" y="3404909"/>
            <a:ext cx="1017538" cy="127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Pagamento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54804" y="3816995"/>
            <a:ext cx="345951" cy="518964"/>
          </a:xfrm>
          <a:prstGeom prst="roundRect">
            <a:avLst>
              <a:gd name="adj" fmla="val 36003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62928" y="3995365"/>
            <a:ext cx="129704" cy="162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6</a:t>
            </a:r>
            <a:endParaRPr lang="en-US" sz="1200" b="1" dirty="0">
              <a:solidFill>
                <a:schemeClr val="bg1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16865" y="3973804"/>
            <a:ext cx="1125810" cy="127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Conferma Prenotazione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3897" y="4544540"/>
            <a:ext cx="5167803" cy="467723"/>
          </a:xfrm>
          <a:prstGeom prst="roundRect">
            <a:avLst>
              <a:gd name="adj" fmla="val 28004"/>
            </a:avLst>
          </a:prstGeom>
          <a:solidFill>
            <a:srgbClr val="022349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967" y="4640165"/>
            <a:ext cx="194786" cy="1376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292632" y="4637407"/>
            <a:ext cx="4840811" cy="4114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sistema verifica automaticamente documenti e requisiti del volo in fase di checkout,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 err="1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bloccando</a:t>
            </a:r>
            <a:r>
              <a:rPr lang="en-US" sz="85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 la prenotazione in caso di incongruenze.</a:t>
            </a:r>
            <a:endParaRPr lang="en-US" sz="8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707524"/>
            <a:ext cx="3977506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Workflow Operatore</a:t>
            </a:r>
            <a:endParaRPr lang="en-US" sz="27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5900" y="1533674"/>
            <a:ext cx="4081314" cy="2740521"/>
          </a:xfrm>
          <a:prstGeom prst="roundRect">
            <a:avLst>
              <a:gd name="adj" fmla="val 6722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5472" y="1683246"/>
            <a:ext cx="22173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Operatore Voli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5472" y="2137194"/>
            <a:ext cx="3782169" cy="1114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Login con credenziali RBAC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2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Dashboard aeroporto assegnato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2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Modifica stato volo (in orario, ritardo, cancellato)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en-US" sz="1200" dirty="0">
                <a:solidFill>
                  <a:srgbClr val="000000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Audit log automatico delle modifiche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9226" y="1683246"/>
            <a:ext cx="22173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Operatore Bagagli</a:t>
            </a:r>
            <a:endParaRPr lang="en-US" sz="16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59226" y="2137194"/>
            <a:ext cx="3547747" cy="10621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Ricerca prenotazione per codice PNR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Verifica peso e conformità bagagli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2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Aggiornamento stato bagaglio (accettato, in transito, consegnato)</a:t>
            </a:r>
            <a:endParaRPr lang="en-US" sz="12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59226" y="3433359"/>
            <a:ext cx="3547747" cy="840835"/>
          </a:xfrm>
          <a:prstGeom prst="roundRect">
            <a:avLst>
              <a:gd name="adj" fmla="val 17786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798" y="3606692"/>
            <a:ext cx="187003" cy="1495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148775" y="3560704"/>
            <a:ext cx="3060952" cy="576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Ogni azione è tracciata nell'audit log per garantire la piena tracciabilità operativa.</a:t>
            </a:r>
            <a:endParaRPr lang="en-US" sz="115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2880" y="368275"/>
            <a:ext cx="6552472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Sicurezza: Analisi Anti-SQL Injection</a:t>
            </a:r>
            <a:endParaRPr lang="en-US" sz="2750" dirty="0"/>
          </a:p>
        </p:txBody>
      </p:sp>
      <p:sp>
        <p:nvSpPr>
          <p:cNvPr id="6" name="Text 2"/>
          <p:cNvSpPr/>
          <p:nvPr/>
        </p:nvSpPr>
        <p:spPr>
          <a:xfrm>
            <a:off x="542880" y="1136601"/>
            <a:ext cx="4667845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AeroBase è stato sottoposto a test di sicurezza per valutare la resistenza agli attacchi SQL Injection. L'obiettivo è verificare come Django e le buone pratiche di programmazione proteggano i dati sensibili degli utenti.</a:t>
            </a:r>
            <a:endParaRPr lang="en-US" sz="1200" dirty="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C8374EF-EF06-B955-7466-5D17BABA1D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8455" y="2030880"/>
            <a:ext cx="5956062" cy="1685925"/>
          </a:xfrm>
          <a:prstGeom prst="rect">
            <a:avLst/>
          </a:prstGeom>
        </p:spPr>
      </p:pic>
      <p:sp>
        <p:nvSpPr>
          <p:cNvPr id="16" name="Text 4">
            <a:extLst>
              <a:ext uri="{FF2B5EF4-FFF2-40B4-BE49-F238E27FC236}">
                <a16:creationId xmlns:a16="http://schemas.microsoft.com/office/drawing/2014/main" id="{49DDEEF7-6534-3B33-DA7C-DD108B729FE7}"/>
              </a:ext>
            </a:extLst>
          </p:cNvPr>
          <p:cNvSpPr/>
          <p:nvPr/>
        </p:nvSpPr>
        <p:spPr>
          <a:xfrm>
            <a:off x="2279288" y="2255851"/>
            <a:ext cx="4388797" cy="1134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it-IT" b="1" dirty="0"/>
              <a:t>Test 1: </a:t>
            </a:r>
            <a:r>
              <a:rPr lang="it-IT" dirty="0"/>
              <a:t>Login Bypass (Tautologia) </a:t>
            </a:r>
          </a:p>
          <a:p>
            <a:pPr marL="285750" indent="-2857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it-IT" b="1" dirty="0"/>
              <a:t>Test 2: </a:t>
            </a:r>
            <a:r>
              <a:rPr lang="it-IT" dirty="0" err="1"/>
              <a:t>Piggybacked</a:t>
            </a:r>
            <a:r>
              <a:rPr lang="it-IT" dirty="0"/>
              <a:t> Query </a:t>
            </a:r>
          </a:p>
          <a:p>
            <a:pPr marL="285750" indent="-2857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it-IT" b="1" dirty="0"/>
              <a:t>Test 3: </a:t>
            </a:r>
            <a:r>
              <a:rPr lang="it-IT" dirty="0"/>
              <a:t>End-of-Line Comment Injection </a:t>
            </a:r>
          </a:p>
          <a:p>
            <a:pPr marL="285750" indent="-2857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it-IT" b="1" dirty="0"/>
              <a:t>Analisi del Codice: </a:t>
            </a:r>
            <a:r>
              <a:rPr lang="it-IT" dirty="0"/>
              <a:t>Versione Debole vs Forte</a:t>
            </a:r>
            <a:endParaRPr lang="en-US" sz="1600" dirty="0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B10F4804-C107-960D-9F42-53F39A0A93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7114" y="3906721"/>
            <a:ext cx="6316394" cy="1136601"/>
          </a:xfrm>
          <a:prstGeom prst="rect">
            <a:avLst/>
          </a:prstGeom>
        </p:spPr>
      </p:pic>
      <p:sp>
        <p:nvSpPr>
          <p:cNvPr id="19" name="Text 4">
            <a:extLst>
              <a:ext uri="{FF2B5EF4-FFF2-40B4-BE49-F238E27FC236}">
                <a16:creationId xmlns:a16="http://schemas.microsoft.com/office/drawing/2014/main" id="{6AC544DF-B835-A1B2-F8E8-F18E8A5EFCD4}"/>
              </a:ext>
            </a:extLst>
          </p:cNvPr>
          <p:cNvSpPr/>
          <p:nvPr/>
        </p:nvSpPr>
        <p:spPr>
          <a:xfrm>
            <a:off x="835996" y="4207939"/>
            <a:ext cx="6022004" cy="645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it-IT" dirty="0"/>
              <a:t>SQL Injection di Secondo Ordine (Attacco Indiretto) </a:t>
            </a:r>
          </a:p>
          <a:p>
            <a:pPr marL="285750" indent="-2857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it-IT" dirty="0"/>
              <a:t>Altri Rischi e Contromisure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magine 17">
            <a:extLst>
              <a:ext uri="{FF2B5EF4-FFF2-40B4-BE49-F238E27FC236}">
                <a16:creationId xmlns:a16="http://schemas.microsoft.com/office/drawing/2014/main" id="{DA3298A0-532A-BA64-6040-3F6834D0F4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30" r="24884"/>
          <a:stretch>
            <a:fillRect/>
          </a:stretch>
        </p:blipFill>
        <p:spPr>
          <a:xfrm>
            <a:off x="217885" y="299877"/>
            <a:ext cx="4912934" cy="4700136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" name="Shape 0"/>
          <p:cNvSpPr/>
          <p:nvPr/>
        </p:nvSpPr>
        <p:spPr>
          <a:xfrm>
            <a:off x="523577" y="262075"/>
            <a:ext cx="434950" cy="224507"/>
          </a:xfrm>
          <a:prstGeom prst="roundRect">
            <a:avLst>
              <a:gd name="adj" fmla="val 6747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 sz="2000"/>
          </a:p>
        </p:txBody>
      </p:sp>
      <p:sp>
        <p:nvSpPr>
          <p:cNvPr id="3" name="Text 1"/>
          <p:cNvSpPr/>
          <p:nvPr/>
        </p:nvSpPr>
        <p:spPr>
          <a:xfrm>
            <a:off x="599256" y="299877"/>
            <a:ext cx="740792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TEST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23577" y="571349"/>
            <a:ext cx="4625429" cy="371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Bypass del Login — Tautologia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30191" y="1068254"/>
            <a:ext cx="1942281" cy="185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Payload inserito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330191" y="1373724"/>
            <a:ext cx="2633737" cy="438522"/>
          </a:xfrm>
          <a:prstGeom prst="roundRect">
            <a:avLst>
              <a:gd name="adj" fmla="val 20358"/>
            </a:avLst>
          </a:prstGeom>
          <a:solidFill>
            <a:srgbClr val="323540"/>
          </a:solidFill>
          <a:ln/>
        </p:spPr>
        <p:txBody>
          <a:bodyPr/>
          <a:lstStyle/>
          <a:p>
            <a:endParaRPr lang="it-IT" sz="2400"/>
          </a:p>
        </p:txBody>
      </p:sp>
      <p:sp>
        <p:nvSpPr>
          <p:cNvPr id="11" name="Text 8"/>
          <p:cNvSpPr/>
          <p:nvPr/>
        </p:nvSpPr>
        <p:spPr>
          <a:xfrm>
            <a:off x="5481698" y="1478828"/>
            <a:ext cx="2787923" cy="18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admin' OR '1'='1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30191" y="2065698"/>
            <a:ext cx="2149153" cy="185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Obiettivo dell'attaccante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330191" y="2357848"/>
            <a:ext cx="2633737" cy="558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Aggirare l'autenticazione senza conoscere la password, sfruttando una condizione SQL sempre vera per bypassare il controllo delle credenziali.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330191" y="3352508"/>
            <a:ext cx="2633737" cy="1380976"/>
          </a:xfrm>
          <a:prstGeom prst="roundRect">
            <a:avLst>
              <a:gd name="adj" fmla="val 12576"/>
            </a:avLst>
          </a:prstGeom>
          <a:solidFill>
            <a:srgbClr val="183A13"/>
          </a:solidFill>
          <a:ln/>
        </p:spPr>
        <p:txBody>
          <a:bodyPr/>
          <a:lstStyle/>
          <a:p>
            <a:endParaRPr lang="it-IT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465" y="3500287"/>
            <a:ext cx="157758" cy="12620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40361" y="3479905"/>
            <a:ext cx="2097360" cy="1126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0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Accesso negato </a:t>
            </a:r>
            <a:r>
              <a:rPr lang="en-US" sz="10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Django ORM interpreta il payload come una semplice stringa letterale, non come codice SQL eseguibile. La query parametrizzata neutralizza automaticamente l'attacco.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CB21D6A5-3AAF-A367-E9E3-62792FE46D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23" r="27047"/>
          <a:stretch>
            <a:fillRect/>
          </a:stretch>
        </p:blipFill>
        <p:spPr>
          <a:xfrm>
            <a:off x="5514536" y="438248"/>
            <a:ext cx="2769938" cy="2924450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t="15714" b="15652"/>
          <a:stretch>
            <a:fillRect/>
          </a:stretch>
        </p:blipFill>
        <p:spPr>
          <a:xfrm>
            <a:off x="201743" y="699987"/>
            <a:ext cx="3144873" cy="2158419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1004366" y="270490"/>
            <a:ext cx="448141" cy="222220"/>
          </a:xfrm>
          <a:prstGeom prst="roundRect">
            <a:avLst>
              <a:gd name="adj" fmla="val 7025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 sz="2000"/>
          </a:p>
        </p:txBody>
      </p:sp>
      <p:sp>
        <p:nvSpPr>
          <p:cNvPr id="3" name="Text 1"/>
          <p:cNvSpPr/>
          <p:nvPr/>
        </p:nvSpPr>
        <p:spPr>
          <a:xfrm>
            <a:off x="1070223" y="303381"/>
            <a:ext cx="703957" cy="121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14269" y="202224"/>
            <a:ext cx="4030392" cy="995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Iniezione Distruttiva — </a:t>
            </a:r>
          </a:p>
          <a:p>
            <a:pPr lvl="1">
              <a:lnSpc>
                <a:spcPct val="104000"/>
              </a:lnSpc>
            </a:pPr>
            <a:r>
              <a:rPr lang="en-US" sz="2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Piggybacked Query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0219" y="2775109"/>
            <a:ext cx="1749772" cy="161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Payload inserito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0474" y="3062542"/>
            <a:ext cx="3433539" cy="382043"/>
          </a:xfrm>
          <a:prstGeom prst="roundRect">
            <a:avLst>
              <a:gd name="adj" fmla="val 32793"/>
            </a:avLst>
          </a:prstGeom>
          <a:solidFill>
            <a:srgbClr val="323540"/>
          </a:solidFill>
          <a:ln/>
        </p:spPr>
        <p:txBody>
          <a:bodyPr/>
          <a:lstStyle/>
          <a:p>
            <a:endParaRPr lang="it-IT" sz="2400"/>
          </a:p>
        </p:txBody>
      </p:sp>
      <p:sp>
        <p:nvSpPr>
          <p:cNvPr id="8" name="Text 6"/>
          <p:cNvSpPr/>
          <p:nvPr/>
        </p:nvSpPr>
        <p:spPr>
          <a:xfrm>
            <a:off x="742335" y="3158310"/>
            <a:ext cx="3627016" cy="152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hacker'; DROP TABLE Passeggero; --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0219" y="3595590"/>
            <a:ext cx="1929557" cy="161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Obiettivo dell'attaccante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0474" y="3837807"/>
            <a:ext cx="3433539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Eseguire un comando SQL distruttivo per eliminare la tabella dei passeggeri, causando perdita permanente di dati.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0219" y="4349735"/>
            <a:ext cx="1749772" cy="161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Risultato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0474" y="4601999"/>
            <a:ext cx="3433539" cy="352351"/>
          </a:xfrm>
          <a:prstGeom prst="roundRect">
            <a:avLst>
              <a:gd name="adj" fmla="val 4677"/>
            </a:avLst>
          </a:prstGeom>
          <a:solidFill>
            <a:srgbClr val="183A13"/>
          </a:solidFill>
          <a:ln/>
        </p:spPr>
        <p:txBody>
          <a:bodyPr/>
          <a:lstStyle/>
          <a:p>
            <a:endParaRPr lang="it-IT" sz="240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09" y="4752687"/>
            <a:ext cx="137294" cy="10983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67438" y="4702011"/>
            <a:ext cx="3423940" cy="152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Attacco bloccato</a:t>
            </a:r>
            <a:endParaRPr lang="en-US" sz="1000" b="1" dirty="0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FDC71347-CB20-9504-F23F-151503E291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870" r="27046"/>
          <a:stretch>
            <a:fillRect/>
          </a:stretch>
        </p:blipFill>
        <p:spPr>
          <a:xfrm>
            <a:off x="4882253" y="2201109"/>
            <a:ext cx="2698873" cy="288017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magine 17">
            <a:extLst>
              <a:ext uri="{FF2B5EF4-FFF2-40B4-BE49-F238E27FC236}">
                <a16:creationId xmlns:a16="http://schemas.microsoft.com/office/drawing/2014/main" id="{99B9AB63-98B5-A540-F8F5-E8C4CAB5A2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68" r="33386" b="10583"/>
          <a:stretch>
            <a:fillRect/>
          </a:stretch>
        </p:blipFill>
        <p:spPr>
          <a:xfrm>
            <a:off x="14065" y="0"/>
            <a:ext cx="3886105" cy="5143500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52577" y="333661"/>
            <a:ext cx="467395" cy="246683"/>
          </a:xfrm>
          <a:prstGeom prst="roundRect">
            <a:avLst>
              <a:gd name="adj" fmla="val 6596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2"/>
          <p:cNvSpPr/>
          <p:nvPr/>
        </p:nvSpPr>
        <p:spPr>
          <a:xfrm>
            <a:off x="4033912" y="374291"/>
            <a:ext cx="761926" cy="165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TEST 3</a:t>
            </a:r>
            <a:endParaRPr lang="en-US" sz="850" dirty="0"/>
          </a:p>
        </p:txBody>
      </p:sp>
      <p:sp>
        <p:nvSpPr>
          <p:cNvPr id="7" name="Text 3"/>
          <p:cNvSpPr/>
          <p:nvPr/>
        </p:nvSpPr>
        <p:spPr>
          <a:xfrm>
            <a:off x="4186274" y="682228"/>
            <a:ext cx="4667845" cy="79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End-of-Line Comment Injection</a:t>
            </a:r>
            <a:endParaRPr lang="en-US" sz="2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38025" y="1674432"/>
            <a:ext cx="5082397" cy="168592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805630" y="1829064"/>
            <a:ext cx="1595065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Payload inserito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3805630" y="2166681"/>
            <a:ext cx="4301430" cy="477887"/>
          </a:xfrm>
          <a:prstGeom prst="roundRect">
            <a:avLst>
              <a:gd name="adj" fmla="val 4256"/>
            </a:avLst>
          </a:prstGeom>
          <a:solidFill>
            <a:srgbClr val="323540"/>
          </a:solidFill>
          <a:ln/>
        </p:spPr>
        <p:txBody>
          <a:bodyPr/>
          <a:lstStyle/>
          <a:p>
            <a:endParaRPr lang="it-IT" sz="2000"/>
          </a:p>
        </p:txBody>
      </p:sp>
      <p:sp>
        <p:nvSpPr>
          <p:cNvPr id="11" name="Shape 6"/>
          <p:cNvSpPr/>
          <p:nvPr/>
        </p:nvSpPr>
        <p:spPr>
          <a:xfrm>
            <a:off x="3760757" y="2166681"/>
            <a:ext cx="4314974" cy="477887"/>
          </a:xfrm>
          <a:prstGeom prst="roundRect">
            <a:avLst>
              <a:gd name="adj" fmla="val 4256"/>
            </a:avLst>
          </a:prstGeom>
          <a:solidFill>
            <a:srgbClr val="323540"/>
          </a:solidFill>
          <a:ln/>
        </p:spPr>
        <p:txBody>
          <a:bodyPr/>
          <a:lstStyle/>
          <a:p>
            <a:endParaRPr lang="it-IT" sz="2000"/>
          </a:p>
        </p:txBody>
      </p:sp>
      <p:sp>
        <p:nvSpPr>
          <p:cNvPr id="12" name="Text 7"/>
          <p:cNvSpPr/>
          <p:nvPr/>
        </p:nvSpPr>
        <p:spPr>
          <a:xfrm>
            <a:off x="3968299" y="2281161"/>
            <a:ext cx="3976092" cy="2067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D6E5EF"/>
                </a:solidFill>
                <a:highlight>
                  <a:srgbClr val="3235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admin_demo' --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3805629" y="2782755"/>
            <a:ext cx="4606851" cy="422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L'attaccante tenta di commentare il controllo della password usando il simbolo </a:t>
            </a:r>
            <a:r>
              <a:rPr lang="en-US" sz="1100" dirty="0">
                <a:solidFill>
                  <a:srgbClr val="D6E5EF"/>
                </a:solidFill>
                <a:highlight>
                  <a:srgbClr val="3235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--</a:t>
            </a:r>
            <a:r>
              <a:rPr lang="en-US" sz="11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cercando di ottenere accesso senza fornire credenziali valide.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38025" y="3609826"/>
            <a:ext cx="5082398" cy="101009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805630" y="3764459"/>
            <a:ext cx="2122512" cy="2041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Risultato: </a:t>
            </a: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Accesso negato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3805630" y="4042321"/>
            <a:ext cx="4550576" cy="422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Django sanitizza l'input impedendo l'interpretazione del commento SQL. Il simbolo </a:t>
            </a:r>
            <a:r>
              <a:rPr lang="en-US" sz="1100" dirty="0">
                <a:solidFill>
                  <a:srgbClr val="D6E5EF"/>
                </a:solidFill>
                <a:highlight>
                  <a:srgbClr val="3235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--</a:t>
            </a:r>
            <a:r>
              <a:rPr lang="en-US" sz="11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viene trattato come parte della stringa, non come operatore SQL.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3577" y="490463"/>
            <a:ext cx="1047899" cy="281136"/>
          </a:xfrm>
          <a:prstGeom prst="roundRect">
            <a:avLst>
              <a:gd name="adj" fmla="val 6386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13321" y="535335"/>
            <a:ext cx="1325612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ANALISI RAW SQL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23577" y="831428"/>
            <a:ext cx="7689354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Raw SQL: Versione Debole vs Versione Forte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523577" y="1495797"/>
            <a:ext cx="8554045" cy="253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L'analisi si è concentrata sulla funzione </a:t>
            </a:r>
            <a:r>
              <a:rPr lang="en-US" sz="1150" dirty="0">
                <a:solidFill>
                  <a:srgbClr val="D6E5EF"/>
                </a:solidFill>
                <a:highlight>
                  <a:srgbClr val="3235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checkout_view</a:t>
            </a: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confrontando due approcci alla costruzione delle query SQL.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5900" y="1917725"/>
            <a:ext cx="4081314" cy="2735238"/>
          </a:xfrm>
          <a:prstGeom prst="roundRect">
            <a:avLst>
              <a:gd name="adj" fmla="val 820"/>
            </a:avLst>
          </a:prstGeom>
          <a:solidFill>
            <a:srgbClr val="F98A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65472" y="2067297"/>
            <a:ext cx="2217316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⚠️ Versione Debole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5472" y="2441600"/>
            <a:ext cx="423936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Uso di f-string per costruire la query SQL dinamica.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5472" y="2849240"/>
            <a:ext cx="3782169" cy="777925"/>
          </a:xfrm>
          <a:prstGeom prst="roundRect">
            <a:avLst>
              <a:gd name="adj" fmla="val 2885"/>
            </a:avLst>
          </a:prstGeom>
          <a:solidFill>
            <a:srgbClr val="EC7DB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58031" y="2849240"/>
            <a:ext cx="3797052" cy="777925"/>
          </a:xfrm>
          <a:prstGeom prst="roundRect">
            <a:avLst>
              <a:gd name="adj" fmla="val 2885"/>
            </a:avLst>
          </a:prstGeom>
          <a:solidFill>
            <a:srgbClr val="EC7DB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745034" y="2998812"/>
            <a:ext cx="3423047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f"SELECT * FROM prenotazioni WHERE utente = '{user}'"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5472" y="3795415"/>
            <a:ext cx="3782169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Attacco riuscito:</a:t>
            </a: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un utente malintenzionato può visualizzare prenotazioni appartenenti ad altri utenti.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59226" y="2067297"/>
            <a:ext cx="2217316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✅</a:t>
            </a:r>
            <a:r>
              <a:rPr lang="en-US" sz="13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Versione Forte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59226" y="2441600"/>
            <a:ext cx="432315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Uso di Prepared Statements tramite parametri SQL.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9226" y="2849240"/>
            <a:ext cx="3865959" cy="1017315"/>
          </a:xfrm>
          <a:prstGeom prst="roundRect">
            <a:avLst>
              <a:gd name="adj" fmla="val 2206"/>
            </a:avLst>
          </a:prstGeom>
          <a:solidFill>
            <a:srgbClr val="3235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751784" y="2849240"/>
            <a:ext cx="3880842" cy="1017315"/>
          </a:xfrm>
          <a:prstGeom prst="roundRect">
            <a:avLst>
              <a:gd name="adj" fmla="val 2206"/>
            </a:avLst>
          </a:prstGeom>
          <a:solidFill>
            <a:srgbClr val="3235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938787" y="2998812"/>
            <a:ext cx="3506837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"SELECT * FROM prenotazioni WHERE utente = %s"</a:t>
            </a:r>
            <a:endParaRPr lang="en-US" sz="11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cursor.execute(query, [user])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59226" y="4034805"/>
            <a:ext cx="3865959" cy="48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Risultato: </a:t>
            </a:r>
            <a:r>
              <a:rPr lang="en-US" sz="1150" b="1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b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Attacco fallito. </a:t>
            </a: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 parametri vengono sempre trattati come dati, mai come codice.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BC80162-BD33-A772-56F3-C701727118AD}"/>
              </a:ext>
            </a:extLst>
          </p:cNvPr>
          <p:cNvSpPr txBox="1"/>
          <p:nvPr/>
        </p:nvSpPr>
        <p:spPr>
          <a:xfrm>
            <a:off x="246184" y="256511"/>
            <a:ext cx="5004581" cy="1090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Codice</a:t>
            </a: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</a:t>
            </a: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Vulnerabile</a:t>
            </a: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ed </a:t>
            </a: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Effetto</a:t>
            </a: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</a:t>
            </a: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dell’Attacco</a:t>
            </a:r>
            <a:endParaRPr lang="en-US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DE2899F-3C65-98F2-EFFD-D3E37579474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50" r="18775"/>
          <a:stretch>
            <a:fillRect/>
          </a:stretch>
        </p:blipFill>
        <p:spPr bwMode="auto">
          <a:xfrm>
            <a:off x="4196228" y="908922"/>
            <a:ext cx="4701588" cy="3498643"/>
          </a:xfrm>
          <a:prstGeom prst="rect">
            <a:avLst/>
          </a:prstGeom>
          <a:noFill/>
          <a:ln>
            <a:noFill/>
          </a:ln>
          <a:effectLst>
            <a:softEdge rad="127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5B7ACFD-9EDE-AE44-B428-73AF94E6E4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8" y="1785082"/>
            <a:ext cx="5566752" cy="2957298"/>
          </a:xfrm>
          <a:prstGeom prst="rect">
            <a:avLst/>
          </a:prstGeom>
          <a:effectLst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3331141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49A90D75-8904-6A80-F563-D8CC00F01978}"/>
              </a:ext>
            </a:extLst>
          </p:cNvPr>
          <p:cNvSpPr txBox="1"/>
          <p:nvPr/>
        </p:nvSpPr>
        <p:spPr>
          <a:xfrm>
            <a:off x="362243" y="401120"/>
            <a:ext cx="2710472" cy="2114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Codice</a:t>
            </a: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Sicuro e </a:t>
            </a: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Protezione</a:t>
            </a: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</a:t>
            </a:r>
            <a:r>
              <a:rPr lang="en-US" sz="3200" dirty="0" err="1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dei</a:t>
            </a: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Dati</a:t>
            </a:r>
            <a:endParaRPr lang="en-US" sz="32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27A2F30-FEE8-309B-FD08-6665A042DB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3329" y="253140"/>
            <a:ext cx="5731510" cy="3251835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3DBC7694-66C4-E595-3B42-6F95F724EC7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289"/>
          <a:stretch>
            <a:fillRect/>
          </a:stretch>
        </p:blipFill>
        <p:spPr bwMode="auto">
          <a:xfrm>
            <a:off x="396051" y="3178738"/>
            <a:ext cx="8351898" cy="1854744"/>
          </a:xfrm>
          <a:prstGeom prst="rect">
            <a:avLst/>
          </a:prstGeom>
          <a:noFill/>
          <a:ln>
            <a:noFill/>
          </a:ln>
          <a:effectLst>
            <a:softEdge rad="127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164737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23577" y="437852"/>
            <a:ext cx="3922440" cy="4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Difesa in Profondità</a:t>
            </a:r>
            <a:endParaRPr lang="en-US" sz="2700" dirty="0"/>
          </a:p>
        </p:txBody>
      </p:sp>
      <p:sp>
        <p:nvSpPr>
          <p:cNvPr id="6" name="Text 2"/>
          <p:cNvSpPr/>
          <p:nvPr/>
        </p:nvSpPr>
        <p:spPr>
          <a:xfrm>
            <a:off x="523577" y="1046250"/>
            <a:ext cx="6995605" cy="467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sicurezza di AeroBase non si affida a un singolo livello di protezione. Ogni richiesta viene verificata su più fronti.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23577" y="1718965"/>
            <a:ext cx="3657417" cy="1771427"/>
          </a:xfrm>
          <a:prstGeom prst="roundRect">
            <a:avLst>
              <a:gd name="adj" fmla="val 5218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8" name="Text 4"/>
          <p:cNvSpPr/>
          <p:nvPr/>
        </p:nvSpPr>
        <p:spPr>
          <a:xfrm>
            <a:off x="670843" y="1950638"/>
            <a:ext cx="1732583" cy="221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🔒</a:t>
            </a: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Livello Database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25263" y="2354426"/>
            <a:ext cx="3254043" cy="934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Prepared Statements e ORM garantiscono che nessun input venga mai interpretato come codice SQL eseguibile.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446017" y="1718965"/>
            <a:ext cx="3657417" cy="1771427"/>
          </a:xfrm>
          <a:prstGeom prst="roundRect">
            <a:avLst>
              <a:gd name="adj" fmla="val 5615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4997481" y="1950638"/>
            <a:ext cx="1732583" cy="221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👤</a:t>
            </a: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Livello Applicativo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76758" y="2354426"/>
            <a:ext cx="3185556" cy="1168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verifica che l'utente autenticato corrisponda al proprietario della prenotazione richiesta, bloccando accessi trasversali.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23577" y="3635350"/>
            <a:ext cx="7579857" cy="1070223"/>
          </a:xfrm>
          <a:prstGeom prst="roundRect">
            <a:avLst>
              <a:gd name="adj" fmla="val 9951"/>
            </a:avLst>
          </a:prstGeom>
          <a:solidFill>
            <a:srgbClr val="44475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0"/>
          <p:cNvSpPr/>
          <p:nvPr/>
        </p:nvSpPr>
        <p:spPr>
          <a:xfrm>
            <a:off x="670843" y="3782616"/>
            <a:ext cx="1732583" cy="221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🛡️</a:t>
            </a: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Validazione Input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70842" y="4154145"/>
            <a:ext cx="6581053" cy="467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Validatori Django filtrano e sanificano ogni dato in ingresso prima che raggiunga il layer di persistenza.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6004" y="340422"/>
            <a:ext cx="692125" cy="177701"/>
          </a:xfrm>
          <a:prstGeom prst="roundRect">
            <a:avLst>
              <a:gd name="adj" fmla="val 7104"/>
            </a:avLst>
          </a:prstGeom>
          <a:solidFill>
            <a:srgbClr val="49042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769107" y="371973"/>
            <a:ext cx="1023119" cy="114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6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TEST AVANZATO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230435" y="600819"/>
            <a:ext cx="4226942" cy="309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SQL Injection di Secondo Ordine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9107" y="1061003"/>
            <a:ext cx="7136659" cy="286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Nell'iniezione di secondo ordine, il payload malevolo viene prima salvato nel database e poi eseguito in una query successiva, rendendo l'attacco più difficile da rilevare.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129" y="1548066"/>
            <a:ext cx="5312569" cy="24314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65997" y="3407746"/>
            <a:ext cx="997402" cy="180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Esecuzione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208997" y="3407746"/>
            <a:ext cx="997402" cy="180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Innesco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958829" y="3407746"/>
            <a:ext cx="997402" cy="180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Persistenza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681334" y="3407746"/>
            <a:ext cx="997402" cy="180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Semina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71073" y="3903504"/>
            <a:ext cx="7675847" cy="7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diagramma illustra le due fasi dell'attacco: </a:t>
            </a:r>
          </a:p>
          <a:p>
            <a:pPr marL="171450" indent="-171450" algn="l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prima l'inserimento del payload nel database, </a:t>
            </a:r>
          </a:p>
          <a:p>
            <a:pPr marL="171450" indent="-171450" algn="l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poi la sua esecuzione in una query successiva</a:t>
            </a:r>
            <a:r>
              <a:rPr lang="en-US" sz="11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37436" y="4175295"/>
            <a:ext cx="4445512" cy="824085"/>
          </a:xfrm>
          <a:prstGeom prst="roundRect">
            <a:avLst>
              <a:gd name="adj" fmla="val 13583"/>
            </a:avLst>
          </a:prstGeom>
          <a:solidFill>
            <a:srgbClr val="183A1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6961" y="4133477"/>
            <a:ext cx="80636" cy="18349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72000" y="4304945"/>
            <a:ext cx="3915396" cy="500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0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Attacco non riuscito — </a:t>
            </a:r>
            <a:r>
              <a:rPr lang="en-US" sz="10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 Validators di Django e le query parametrizzate tramite ORM neutralizzano il payload sia in fase di scrittura sia in fase di lettura.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639636" y="380374"/>
            <a:ext cx="4267721" cy="378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Altri Rischi e Contromisure</a:t>
            </a:r>
            <a:endParaRPr lang="en-US" sz="28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9636" y="1029326"/>
            <a:ext cx="321394" cy="32139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39636" y="1488833"/>
            <a:ext cx="1512615" cy="189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Hashing e Salt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963194" y="1793385"/>
            <a:ext cx="6359041" cy="382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Django salva le password tramite hashing con salt casuale per ogni utente, rendendo impossibile il </a:t>
            </a:r>
            <a:r>
              <a:rPr lang="en-US" sz="1200" dirty="0" err="1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recupero</a:t>
            </a: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delle credenziali anche in caso di data breach.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636" y="2467149"/>
            <a:ext cx="321394" cy="321394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39636" y="2926656"/>
            <a:ext cx="1512615" cy="189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Brute Force</a:t>
            </a:r>
            <a:endParaRPr lang="en-US" sz="1600" dirty="0"/>
          </a:p>
        </p:txBody>
      </p:sp>
      <p:sp>
        <p:nvSpPr>
          <p:cNvPr id="11" name="Text 5"/>
          <p:cNvSpPr/>
          <p:nvPr/>
        </p:nvSpPr>
        <p:spPr>
          <a:xfrm>
            <a:off x="963194" y="3210107"/>
            <a:ext cx="6359041" cy="382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 un ambiente di produzione reale, è fortemente consigliato implementare sistemi di </a:t>
            </a:r>
            <a:r>
              <a:rPr lang="en-US" sz="1200" b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Rate Limiting</a:t>
            </a: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</a:t>
            </a:r>
            <a:r>
              <a:rPr lang="en-US" sz="1200" dirty="0" err="1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mitigare</a:t>
            </a: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00" dirty="0" err="1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attacchi</a:t>
            </a: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 forza bruta sulle credenziali.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636" y="3820564"/>
            <a:ext cx="321394" cy="32139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39636" y="4280071"/>
            <a:ext cx="1512615" cy="189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HTTP vs HTTPS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963194" y="4563522"/>
            <a:ext cx="6359041" cy="382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 produzione è </a:t>
            </a:r>
            <a:r>
              <a:rPr lang="en-US" sz="1200" b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obbligatorio</a:t>
            </a: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utilizzare HTTPS per proteggere dati sensibili, credenziali e sessioni utente durante la trasmissione.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23577" y="459804"/>
            <a:ext cx="3867448" cy="426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Conclusioni</a:t>
            </a:r>
            <a:endParaRPr lang="en-US" sz="28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6" name="Text 2"/>
          <p:cNvSpPr/>
          <p:nvPr/>
        </p:nvSpPr>
        <p:spPr>
          <a:xfrm>
            <a:off x="523577" y="951087"/>
            <a:ext cx="5423095" cy="5774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sistema dimostra come i principi di progettazione di basi di dati si traducano in un'applicazione reale, scalabile e affidabile.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577" y="1767423"/>
            <a:ext cx="289843" cy="28984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88888" y="1760934"/>
            <a:ext cx="314194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Integrazione DBMS–Web</a:t>
            </a:r>
            <a:endParaRPr lang="en-US" sz="1600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9" name="Text 4"/>
          <p:cNvSpPr/>
          <p:nvPr/>
        </p:nvSpPr>
        <p:spPr>
          <a:xfrm>
            <a:off x="988888" y="2058219"/>
            <a:ext cx="6670970" cy="456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MySQL e Django lavorano in sinergia per garantire integrità referenziale e logica applicativa coerente.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577" y="2844826"/>
            <a:ext cx="289843" cy="2898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88888" y="2845371"/>
            <a:ext cx="2706660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Alta Integrità dei Dati</a:t>
            </a:r>
            <a:endParaRPr lang="en-US" sz="1600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2" name="Text 6"/>
          <p:cNvSpPr/>
          <p:nvPr/>
        </p:nvSpPr>
        <p:spPr>
          <a:xfrm>
            <a:off x="988888" y="3142655"/>
            <a:ext cx="6670970" cy="456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Trigger, vincoli e politiche ON DELETE assicurano consistenza anche in scenari complessi.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577" y="3943330"/>
            <a:ext cx="289843" cy="289843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88888" y="3929807"/>
            <a:ext cx="272414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98AC7"/>
                </a:solidFill>
                <a:latin typeface="Alef" panose="00000500000000000000" pitchFamily="2" charset="-79"/>
                <a:ea typeface="Lora" pitchFamily="34" charset="-122"/>
                <a:cs typeface="Alef" panose="00000500000000000000" pitchFamily="2" charset="-79"/>
              </a:rPr>
              <a:t>Architettura Scalabile</a:t>
            </a:r>
            <a:endParaRPr lang="en-US" sz="1600" dirty="0">
              <a:solidFill>
                <a:srgbClr val="F98AC7"/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15" name="Text 8"/>
          <p:cNvSpPr/>
          <p:nvPr/>
        </p:nvSpPr>
        <p:spPr>
          <a:xfrm>
            <a:off x="988888" y="4227091"/>
            <a:ext cx="6670970" cy="456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D6E5EF"/>
                </a:solidFill>
                <a:latin typeface="Alef" panose="00000500000000000000" pitchFamily="2" charset="-79"/>
                <a:ea typeface="Source Sans 3" pitchFamily="34" charset="-122"/>
                <a:cs typeface="Alef" panose="00000500000000000000" pitchFamily="2" charset="-79"/>
              </a:rPr>
              <a:t>Il design multi-tenant e RBAC permette l'espansione a nuovi aeroporti senza modifiche strutturali.</a:t>
            </a:r>
            <a:endParaRPr lang="en-US" sz="1400" dirty="0"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Vista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B4B30"/>
      </a:accent2>
      <a:accent3>
        <a:srgbClr val="B5AE53"/>
      </a:accent3>
      <a:accent4>
        <a:srgbClr val="6F6A7A"/>
      </a:accent4>
      <a:accent5>
        <a:srgbClr val="E8B54D"/>
      </a:accent5>
      <a:accent6>
        <a:srgbClr val="8A7952"/>
      </a:accent6>
      <a:hlink>
        <a:srgbClr val="9F9F0B"/>
      </a:hlink>
      <a:folHlink>
        <a:srgbClr val="B2B2B2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3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866257B-E5CE-4C43-9210-F2DE76BE10B5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0</TotalTime>
  <Words>3253</Words>
  <Application>Microsoft Office PowerPoint</Application>
  <PresentationFormat>Presentazione su schermo (16:9)</PresentationFormat>
  <Paragraphs>414</Paragraphs>
  <Slides>31</Slides>
  <Notes>28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31</vt:i4>
      </vt:variant>
    </vt:vector>
  </HeadingPairs>
  <TitlesOfParts>
    <vt:vector size="39" baseType="lpstr">
      <vt:lpstr>Lora</vt:lpstr>
      <vt:lpstr>Arial</vt:lpstr>
      <vt:lpstr>Century Schoolbook</vt:lpstr>
      <vt:lpstr>Consolas</vt:lpstr>
      <vt:lpstr>Source Sans 3</vt:lpstr>
      <vt:lpstr>Wingdings 2</vt:lpstr>
      <vt:lpstr>Alef</vt:lpstr>
      <vt:lpstr>Vista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Martina Lumastro</dc:creator>
  <cp:lastModifiedBy>MARTINA LUMASTRO</cp:lastModifiedBy>
  <cp:revision>8</cp:revision>
  <dcterms:created xsi:type="dcterms:W3CDTF">2026-06-14T18:00:43Z</dcterms:created>
  <dcterms:modified xsi:type="dcterms:W3CDTF">2026-06-30T12:18:28Z</dcterms:modified>
</cp:coreProperties>
</file>